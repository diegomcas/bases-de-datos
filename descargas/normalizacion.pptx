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56" r:id="rId3"/>
    <p:sldId id="257" r:id="rId4"/>
    <p:sldId id="319" r:id="rId5"/>
    <p:sldId id="320" r:id="rId6"/>
    <p:sldId id="321" r:id="rId7"/>
    <p:sldId id="322" r:id="rId8"/>
    <p:sldId id="323" r:id="rId9"/>
    <p:sldId id="325" r:id="rId10"/>
    <p:sldId id="324" r:id="rId11"/>
    <p:sldId id="326" r:id="rId1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D3F45D-B8D8-4ABC-B23B-EC35853C5C3C}" v="469" dt="2026-06-22T11:19:51.53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63559" autoAdjust="0"/>
  </p:normalViewPr>
  <p:slideViewPr>
    <p:cSldViewPr snapToGrid="0">
      <p:cViewPr>
        <p:scale>
          <a:sx n="125" d="100"/>
          <a:sy n="125" d="100"/>
        </p:scale>
        <p:origin x="-12" y="-1188"/>
      </p:cViewPr>
      <p:guideLst/>
    </p:cSldViewPr>
  </p:slideViewPr>
  <p:notesTextViewPr>
    <p:cViewPr>
      <p:scale>
        <a:sx n="3" d="2"/>
        <a:sy n="3" d="2"/>
      </p:scale>
      <p:origin x="0" y="-18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Cass" userId="78b1f702ed5b9641" providerId="LiveId" clId="{31830BD7-D5DB-4C59-B90C-444D23BC72A4}"/>
    <pc:docChg chg="undo custSel addSld delSld modSld">
      <pc:chgData name="Diego Cass" userId="78b1f702ed5b9641" providerId="LiveId" clId="{31830BD7-D5DB-4C59-B90C-444D23BC72A4}" dt="2026-06-22T11:19:58.452" v="1325" actId="1076"/>
      <pc:docMkLst>
        <pc:docMk/>
      </pc:docMkLst>
      <pc:sldChg chg="addSp delSp modSp mod modAnim modNotesTx">
        <pc:chgData name="Diego Cass" userId="78b1f702ed5b9641" providerId="LiveId" clId="{31830BD7-D5DB-4C59-B90C-444D23BC72A4}" dt="2026-06-16T21:57:32.507" v="568" actId="20577"/>
        <pc:sldMkLst>
          <pc:docMk/>
          <pc:sldMk cId="2620780405" sldId="257"/>
        </pc:sldMkLst>
        <pc:spChg chg="add mod">
          <ac:chgData name="Diego Cass" userId="78b1f702ed5b9641" providerId="LiveId" clId="{31830BD7-D5DB-4C59-B90C-444D23BC72A4}" dt="2026-06-15T14:26:52.776" v="125" actId="1076"/>
          <ac:spMkLst>
            <pc:docMk/>
            <pc:sldMk cId="2620780405" sldId="257"/>
            <ac:spMk id="2" creationId="{4226B537-97BA-02E7-F6B6-B715516BFF0C}"/>
          </ac:spMkLst>
        </pc:spChg>
        <pc:spChg chg="add mod">
          <ac:chgData name="Diego Cass" userId="78b1f702ed5b9641" providerId="LiveId" clId="{31830BD7-D5DB-4C59-B90C-444D23BC72A4}" dt="2026-06-16T21:57:32.507" v="568" actId="20577"/>
          <ac:spMkLst>
            <pc:docMk/>
            <pc:sldMk cId="2620780405" sldId="257"/>
            <ac:spMk id="4" creationId="{DA3C29E9-D5F9-4749-2B6E-AF03885ED8C2}"/>
          </ac:spMkLst>
        </pc:spChg>
        <pc:spChg chg="mod">
          <ac:chgData name="Diego Cass" userId="78b1f702ed5b9641" providerId="LiveId" clId="{31830BD7-D5DB-4C59-B90C-444D23BC72A4}" dt="2026-06-15T14:26:46.638" v="124" actId="1076"/>
          <ac:spMkLst>
            <pc:docMk/>
            <pc:sldMk cId="2620780405" sldId="257"/>
            <ac:spMk id="5" creationId="{1DF52B42-E9CE-1CF6-878F-95955CCD087A}"/>
          </ac:spMkLst>
        </pc:spChg>
        <pc:spChg chg="mod">
          <ac:chgData name="Diego Cass" userId="78b1f702ed5b9641" providerId="LiveId" clId="{31830BD7-D5DB-4C59-B90C-444D23BC72A4}" dt="2026-06-15T14:27:40.037" v="130" actId="122"/>
          <ac:spMkLst>
            <pc:docMk/>
            <pc:sldMk cId="2620780405" sldId="257"/>
            <ac:spMk id="6" creationId="{C0A6236C-72BB-10CC-7CA9-8CB551A50841}"/>
          </ac:spMkLst>
        </pc:spChg>
      </pc:sldChg>
      <pc:sldChg chg="modSp add mod modAnim modNotesTx">
        <pc:chgData name="Diego Cass" userId="78b1f702ed5b9641" providerId="LiveId" clId="{31830BD7-D5DB-4C59-B90C-444D23BC72A4}" dt="2026-06-19T16:11:56.709" v="1073" actId="20577"/>
        <pc:sldMkLst>
          <pc:docMk/>
          <pc:sldMk cId="3436322035" sldId="319"/>
        </pc:sldMkLst>
        <pc:spChg chg="mod">
          <ac:chgData name="Diego Cass" userId="78b1f702ed5b9641" providerId="LiveId" clId="{31830BD7-D5DB-4C59-B90C-444D23BC72A4}" dt="2026-06-15T14:51:52.919" v="267" actId="255"/>
          <ac:spMkLst>
            <pc:docMk/>
            <pc:sldMk cId="3436322035" sldId="319"/>
            <ac:spMk id="2" creationId="{DC4107B6-4417-A599-75C6-E79B9F436806}"/>
          </ac:spMkLst>
        </pc:spChg>
        <pc:spChg chg="mod">
          <ac:chgData name="Diego Cass" userId="78b1f702ed5b9641" providerId="LiveId" clId="{31830BD7-D5DB-4C59-B90C-444D23BC72A4}" dt="2026-06-19T16:11:03.972" v="1058" actId="20577"/>
          <ac:spMkLst>
            <pc:docMk/>
            <pc:sldMk cId="3436322035" sldId="319"/>
            <ac:spMk id="4" creationId="{99003AC0-24A4-CEB4-E4A5-CCA5F26B215C}"/>
          </ac:spMkLst>
        </pc:spChg>
        <pc:spChg chg="mod">
          <ac:chgData name="Diego Cass" userId="78b1f702ed5b9641" providerId="LiveId" clId="{31830BD7-D5DB-4C59-B90C-444D23BC72A4}" dt="2026-06-19T16:11:56.709" v="1073" actId="20577"/>
          <ac:spMkLst>
            <pc:docMk/>
            <pc:sldMk cId="3436322035" sldId="319"/>
            <ac:spMk id="5" creationId="{424F58B0-AAA9-45D9-C470-F8FEC61C1602}"/>
          </ac:spMkLst>
        </pc:spChg>
        <pc:spChg chg="mod">
          <ac:chgData name="Diego Cass" userId="78b1f702ed5b9641" providerId="LiveId" clId="{31830BD7-D5DB-4C59-B90C-444D23BC72A4}" dt="2026-06-15T15:05:59.117" v="330" actId="20577"/>
          <ac:spMkLst>
            <pc:docMk/>
            <pc:sldMk cId="3436322035" sldId="319"/>
            <ac:spMk id="6" creationId="{FCDD6BA0-2E07-F190-2CB8-D1E9E03BEEFD}"/>
          </ac:spMkLst>
        </pc:spChg>
      </pc:sldChg>
      <pc:sldChg chg="addSp modSp add mod modAnim modNotesTx">
        <pc:chgData name="Diego Cass" userId="78b1f702ed5b9641" providerId="LiveId" clId="{31830BD7-D5DB-4C59-B90C-444D23BC72A4}" dt="2026-06-19T15:14:03.857" v="760" actId="255"/>
        <pc:sldMkLst>
          <pc:docMk/>
          <pc:sldMk cId="4027043618" sldId="320"/>
        </pc:sldMkLst>
        <pc:spChg chg="mod">
          <ac:chgData name="Diego Cass" userId="78b1f702ed5b9641" providerId="LiveId" clId="{31830BD7-D5DB-4C59-B90C-444D23BC72A4}" dt="2026-06-19T14:41:45.915" v="738" actId="255"/>
          <ac:spMkLst>
            <pc:docMk/>
            <pc:sldMk cId="4027043618" sldId="320"/>
            <ac:spMk id="2" creationId="{F9CB6FE9-AA64-A3FF-A95A-5BF5923C67CC}"/>
          </ac:spMkLst>
        </pc:spChg>
        <pc:spChg chg="mod">
          <ac:chgData name="Diego Cass" userId="78b1f702ed5b9641" providerId="LiveId" clId="{31830BD7-D5DB-4C59-B90C-444D23BC72A4}" dt="2026-06-15T14:53:49.226" v="292" actId="20577"/>
          <ac:spMkLst>
            <pc:docMk/>
            <pc:sldMk cId="4027043618" sldId="320"/>
            <ac:spMk id="4" creationId="{D752245C-0366-2E2D-15C4-2A526162E643}"/>
          </ac:spMkLst>
        </pc:spChg>
        <pc:spChg chg="mod">
          <ac:chgData name="Diego Cass" userId="78b1f702ed5b9641" providerId="LiveId" clId="{31830BD7-D5DB-4C59-B90C-444D23BC72A4}" dt="2026-06-19T15:11:26.229" v="740" actId="27636"/>
          <ac:spMkLst>
            <pc:docMk/>
            <pc:sldMk cId="4027043618" sldId="320"/>
            <ac:spMk id="5" creationId="{ABDD30BC-F273-AC72-8441-A386E3F8BF5D}"/>
          </ac:spMkLst>
        </pc:spChg>
        <pc:spChg chg="mod">
          <ac:chgData name="Diego Cass" userId="78b1f702ed5b9641" providerId="LiveId" clId="{31830BD7-D5DB-4C59-B90C-444D23BC72A4}" dt="2026-06-19T15:14:03.857" v="760" actId="255"/>
          <ac:spMkLst>
            <pc:docMk/>
            <pc:sldMk cId="4027043618" sldId="320"/>
            <ac:spMk id="6" creationId="{A8DF47DD-41FE-6D14-1F05-E329F9413887}"/>
          </ac:spMkLst>
        </pc:spChg>
        <pc:picChg chg="add mod modCrop">
          <ac:chgData name="Diego Cass" userId="78b1f702ed5b9641" providerId="LiveId" clId="{31830BD7-D5DB-4C59-B90C-444D23BC72A4}" dt="2026-06-15T14:53:21.461" v="288" actId="732"/>
          <ac:picMkLst>
            <pc:docMk/>
            <pc:sldMk cId="4027043618" sldId="320"/>
            <ac:picMk id="7" creationId="{A22D82D9-5195-D4AD-4277-1A7D82A84D91}"/>
          </ac:picMkLst>
        </pc:picChg>
      </pc:sldChg>
      <pc:sldChg chg="addSp delSp modSp add mod modAnim modNotesTx">
        <pc:chgData name="Diego Cass" userId="78b1f702ed5b9641" providerId="LiveId" clId="{31830BD7-D5DB-4C59-B90C-444D23BC72A4}" dt="2026-06-19T15:56:20.036" v="805" actId="20577"/>
        <pc:sldMkLst>
          <pc:docMk/>
          <pc:sldMk cId="3546642110" sldId="321"/>
        </pc:sldMkLst>
        <pc:spChg chg="mod">
          <ac:chgData name="Diego Cass" userId="78b1f702ed5b9641" providerId="LiveId" clId="{31830BD7-D5DB-4C59-B90C-444D23BC72A4}" dt="2026-06-15T15:26:33.582" v="504" actId="255"/>
          <ac:spMkLst>
            <pc:docMk/>
            <pc:sldMk cId="3546642110" sldId="321"/>
            <ac:spMk id="2" creationId="{85BD96DC-C93D-2493-5A35-D924D137D3D2}"/>
          </ac:spMkLst>
        </pc:spChg>
        <pc:spChg chg="mod">
          <ac:chgData name="Diego Cass" userId="78b1f702ed5b9641" providerId="LiveId" clId="{31830BD7-D5DB-4C59-B90C-444D23BC72A4}" dt="2026-06-15T15:29:52.395" v="549" actId="1076"/>
          <ac:spMkLst>
            <pc:docMk/>
            <pc:sldMk cId="3546642110" sldId="321"/>
            <ac:spMk id="5" creationId="{6D51178D-B3C5-C557-2513-E157F408132A}"/>
          </ac:spMkLst>
        </pc:spChg>
        <pc:spChg chg="mod">
          <ac:chgData name="Diego Cass" userId="78b1f702ed5b9641" providerId="LiveId" clId="{31830BD7-D5DB-4C59-B90C-444D23BC72A4}" dt="2026-06-15T15:06:26.655" v="345" actId="20577"/>
          <ac:spMkLst>
            <pc:docMk/>
            <pc:sldMk cId="3546642110" sldId="321"/>
            <ac:spMk id="6" creationId="{9277EF34-2F75-89C6-99AA-2448CD0EF1E2}"/>
          </ac:spMkLst>
        </pc:spChg>
        <pc:spChg chg="add mod">
          <ac:chgData name="Diego Cass" userId="78b1f702ed5b9641" providerId="LiveId" clId="{31830BD7-D5DB-4C59-B90C-444D23BC72A4}" dt="2026-06-16T22:04:47.321" v="592" actId="20577"/>
          <ac:spMkLst>
            <pc:docMk/>
            <pc:sldMk cId="3546642110" sldId="321"/>
            <ac:spMk id="8" creationId="{1FFD237C-9733-53C8-C9E1-EAA6CC365974}"/>
          </ac:spMkLst>
        </pc:spChg>
      </pc:sldChg>
      <pc:sldChg chg="addSp modSp add mod modAnim modNotesTx">
        <pc:chgData name="Diego Cass" userId="78b1f702ed5b9641" providerId="LiveId" clId="{31830BD7-D5DB-4C59-B90C-444D23BC72A4}" dt="2026-06-19T15:56:37.111" v="820" actId="20577"/>
        <pc:sldMkLst>
          <pc:docMk/>
          <pc:sldMk cId="3352715188" sldId="322"/>
        </pc:sldMkLst>
        <pc:spChg chg="mod">
          <ac:chgData name="Diego Cass" userId="78b1f702ed5b9641" providerId="LiveId" clId="{31830BD7-D5DB-4C59-B90C-444D23BC72A4}" dt="2026-06-15T15:32:02.378" v="557" actId="255"/>
          <ac:spMkLst>
            <pc:docMk/>
            <pc:sldMk cId="3352715188" sldId="322"/>
            <ac:spMk id="2" creationId="{4EF91393-B4CE-7A4F-4EA6-E706F3D0EB56}"/>
          </ac:spMkLst>
        </pc:spChg>
        <pc:spChg chg="mod">
          <ac:chgData name="Diego Cass" userId="78b1f702ed5b9641" providerId="LiveId" clId="{31830BD7-D5DB-4C59-B90C-444D23BC72A4}" dt="2026-06-16T22:05:00.026" v="603" actId="20577"/>
          <ac:spMkLst>
            <pc:docMk/>
            <pc:sldMk cId="3352715188" sldId="322"/>
            <ac:spMk id="8" creationId="{DE288DE3-9818-CBD1-CF20-EE068562CA6E}"/>
          </ac:spMkLst>
        </pc:spChg>
        <pc:grpChg chg="add mod">
          <ac:chgData name="Diego Cass" userId="78b1f702ed5b9641" providerId="LiveId" clId="{31830BD7-D5DB-4C59-B90C-444D23BC72A4}" dt="2026-06-15T15:31:49.336" v="556" actId="1076"/>
          <ac:grpSpMkLst>
            <pc:docMk/>
            <pc:sldMk cId="3352715188" sldId="322"/>
            <ac:grpSpMk id="7" creationId="{8BE9606E-F590-3D26-B81F-E9FCA9400B9E}"/>
          </ac:grpSpMkLst>
        </pc:grpChg>
        <pc:cxnChg chg="add mod">
          <ac:chgData name="Diego Cass" userId="78b1f702ed5b9641" providerId="LiveId" clId="{31830BD7-D5DB-4C59-B90C-444D23BC72A4}" dt="2026-06-15T15:31:45.906" v="555" actId="164"/>
          <ac:cxnSpMkLst>
            <pc:docMk/>
            <pc:sldMk cId="3352715188" sldId="322"/>
            <ac:cxnSpMk id="4" creationId="{0C1DBEE9-FDCF-6A87-1242-C2E126E7ECC0}"/>
          </ac:cxnSpMkLst>
        </pc:cxnChg>
      </pc:sldChg>
      <pc:sldChg chg="delSp modSp add mod modNotesTx">
        <pc:chgData name="Diego Cass" userId="78b1f702ed5b9641" providerId="LiveId" clId="{31830BD7-D5DB-4C59-B90C-444D23BC72A4}" dt="2026-06-19T16:00:22.630" v="872" actId="14100"/>
        <pc:sldMkLst>
          <pc:docMk/>
          <pc:sldMk cId="224431951" sldId="323"/>
        </pc:sldMkLst>
        <pc:spChg chg="mod topLvl">
          <ac:chgData name="Diego Cass" userId="78b1f702ed5b9641" providerId="LiveId" clId="{31830BD7-D5DB-4C59-B90C-444D23BC72A4}" dt="2026-06-16T22:09:06.789" v="681" actId="20577"/>
          <ac:spMkLst>
            <pc:docMk/>
            <pc:sldMk cId="224431951" sldId="323"/>
            <ac:spMk id="2" creationId="{2F606E4F-E8E1-E9C7-783C-AAE5F94D5EB6}"/>
          </ac:spMkLst>
        </pc:spChg>
        <pc:spChg chg="mod">
          <ac:chgData name="Diego Cass" userId="78b1f702ed5b9641" providerId="LiveId" clId="{31830BD7-D5DB-4C59-B90C-444D23BC72A4}" dt="2026-06-16T22:09:57.247" v="686" actId="12"/>
          <ac:spMkLst>
            <pc:docMk/>
            <pc:sldMk cId="224431951" sldId="323"/>
            <ac:spMk id="5" creationId="{63A3CF26-914B-6EA1-5488-8AA6EEEE91E7}"/>
          </ac:spMkLst>
        </pc:spChg>
        <pc:spChg chg="mod">
          <ac:chgData name="Diego Cass" userId="78b1f702ed5b9641" providerId="LiveId" clId="{31830BD7-D5DB-4C59-B90C-444D23BC72A4}" dt="2026-06-19T16:00:22.630" v="872" actId="14100"/>
          <ac:spMkLst>
            <pc:docMk/>
            <pc:sldMk cId="224431951" sldId="323"/>
            <ac:spMk id="6" creationId="{D71BA673-0362-FB35-9628-E521534B9ACD}"/>
          </ac:spMkLst>
        </pc:spChg>
        <pc:spChg chg="mod">
          <ac:chgData name="Diego Cass" userId="78b1f702ed5b9641" providerId="LiveId" clId="{31830BD7-D5DB-4C59-B90C-444D23BC72A4}" dt="2026-06-16T22:08:04.600" v="650" actId="33524"/>
          <ac:spMkLst>
            <pc:docMk/>
            <pc:sldMk cId="224431951" sldId="323"/>
            <ac:spMk id="8" creationId="{BDA2909A-2DAE-0E22-BF09-1DBFF8793C2F}"/>
          </ac:spMkLst>
        </pc:spChg>
      </pc:sldChg>
      <pc:sldChg chg="addSp delSp modSp add mod delAnim modAnim modNotesTx">
        <pc:chgData name="Diego Cass" userId="78b1f702ed5b9641" providerId="LiveId" clId="{31830BD7-D5DB-4C59-B90C-444D23BC72A4}" dt="2026-06-19T17:04:29.077" v="1246" actId="1076"/>
        <pc:sldMkLst>
          <pc:docMk/>
          <pc:sldMk cId="2227045191" sldId="324"/>
        </pc:sldMkLst>
        <pc:spChg chg="add mod">
          <ac:chgData name="Diego Cass" userId="78b1f702ed5b9641" providerId="LiveId" clId="{31830BD7-D5DB-4C59-B90C-444D23BC72A4}" dt="2026-06-19T16:56:00.004" v="1133" actId="20577"/>
          <ac:spMkLst>
            <pc:docMk/>
            <pc:sldMk cId="2227045191" sldId="324"/>
            <ac:spMk id="3" creationId="{508CA23A-6647-8132-0C19-986495968C3E}"/>
          </ac:spMkLst>
        </pc:spChg>
        <pc:spChg chg="add mod">
          <ac:chgData name="Diego Cass" userId="78b1f702ed5b9641" providerId="LiveId" clId="{31830BD7-D5DB-4C59-B90C-444D23BC72A4}" dt="2026-06-19T17:04:29.077" v="1246" actId="1076"/>
          <ac:spMkLst>
            <pc:docMk/>
            <pc:sldMk cId="2227045191" sldId="324"/>
            <ac:spMk id="5" creationId="{B190EA92-986F-7DD1-A99D-4C356EDFCFB6}"/>
          </ac:spMkLst>
        </pc:spChg>
        <pc:spChg chg="mod">
          <ac:chgData name="Diego Cass" userId="78b1f702ed5b9641" providerId="LiveId" clId="{31830BD7-D5DB-4C59-B90C-444D23BC72A4}" dt="2026-06-19T15:56:27.059" v="816" actId="20577"/>
          <ac:spMkLst>
            <pc:docMk/>
            <pc:sldMk cId="2227045191" sldId="324"/>
            <ac:spMk id="6" creationId="{0433E5F4-6624-AD5D-2705-E4608174131A}"/>
          </ac:spMkLst>
        </pc:spChg>
        <pc:spChg chg="add mod">
          <ac:chgData name="Diego Cass" userId="78b1f702ed5b9641" providerId="LiveId" clId="{31830BD7-D5DB-4C59-B90C-444D23BC72A4}" dt="2026-06-19T17:04:29.077" v="1246" actId="1076"/>
          <ac:spMkLst>
            <pc:docMk/>
            <pc:sldMk cId="2227045191" sldId="324"/>
            <ac:spMk id="7" creationId="{7B5E8B76-10F9-33B6-861C-4DAB3CE17B1B}"/>
          </ac:spMkLst>
        </pc:spChg>
      </pc:sldChg>
      <pc:sldChg chg="addSp delSp modSp add mod delAnim">
        <pc:chgData name="Diego Cass" userId="78b1f702ed5b9641" providerId="LiveId" clId="{31830BD7-D5DB-4C59-B90C-444D23BC72A4}" dt="2026-06-19T17:01:45.555" v="1217" actId="20577"/>
        <pc:sldMkLst>
          <pc:docMk/>
          <pc:sldMk cId="2282641300" sldId="325"/>
        </pc:sldMkLst>
        <pc:spChg chg="mod">
          <ac:chgData name="Diego Cass" userId="78b1f702ed5b9641" providerId="LiveId" clId="{31830BD7-D5DB-4C59-B90C-444D23BC72A4}" dt="2026-06-19T16:37:04.918" v="1077" actId="20577"/>
          <ac:spMkLst>
            <pc:docMk/>
            <pc:sldMk cId="2282641300" sldId="325"/>
            <ac:spMk id="8" creationId="{BB5CEE77-0A64-755D-3513-EEC64CC727A2}"/>
          </ac:spMkLst>
        </pc:spChg>
        <pc:spChg chg="add mod">
          <ac:chgData name="Diego Cass" userId="78b1f702ed5b9641" providerId="LiveId" clId="{31830BD7-D5DB-4C59-B90C-444D23BC72A4}" dt="2026-06-19T17:01:45.555" v="1217" actId="20577"/>
          <ac:spMkLst>
            <pc:docMk/>
            <pc:sldMk cId="2282641300" sldId="325"/>
            <ac:spMk id="9" creationId="{CFC842EA-2EEB-6556-C9E4-E8B1438EAA3C}"/>
          </ac:spMkLst>
        </pc:spChg>
      </pc:sldChg>
      <pc:sldChg chg="modSp add mod">
        <pc:chgData name="Diego Cass" userId="78b1f702ed5b9641" providerId="LiveId" clId="{31830BD7-D5DB-4C59-B90C-444D23BC72A4}" dt="2026-06-22T11:19:58.452" v="1325" actId="1076"/>
        <pc:sldMkLst>
          <pc:docMk/>
          <pc:sldMk cId="629434003" sldId="326"/>
        </pc:sldMkLst>
        <pc:spChg chg="mod">
          <ac:chgData name="Diego Cass" userId="78b1f702ed5b9641" providerId="LiveId" clId="{31830BD7-D5DB-4C59-B90C-444D23BC72A4}" dt="2026-06-22T11:07:41.190" v="1270" actId="27636"/>
          <ac:spMkLst>
            <pc:docMk/>
            <pc:sldMk cId="629434003" sldId="326"/>
            <ac:spMk id="3" creationId="{FE894659-BD1E-6892-D5C2-AFE42862A766}"/>
          </ac:spMkLst>
        </pc:spChg>
        <pc:spChg chg="mod">
          <ac:chgData name="Diego Cass" userId="78b1f702ed5b9641" providerId="LiveId" clId="{31830BD7-D5DB-4C59-B90C-444D23BC72A4}" dt="2026-06-22T11:06:09.659" v="1261" actId="20577"/>
          <ac:spMkLst>
            <pc:docMk/>
            <pc:sldMk cId="629434003" sldId="326"/>
            <ac:spMk id="6" creationId="{647E1020-EDD5-6131-0329-03C5A615A4D9}"/>
          </ac:spMkLst>
        </pc:spChg>
        <pc:spChg chg="mod">
          <ac:chgData name="Diego Cass" userId="78b1f702ed5b9641" providerId="LiveId" clId="{31830BD7-D5DB-4C59-B90C-444D23BC72A4}" dt="2026-06-22T11:19:58.452" v="1325" actId="1076"/>
          <ac:spMkLst>
            <pc:docMk/>
            <pc:sldMk cId="629434003" sldId="326"/>
            <ac:spMk id="7" creationId="{05B5BC69-4932-9B66-C4EA-9F4A9E1241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E2F9C0-299B-47AD-9060-4E84C40DD1D6}" type="datetimeFigureOut">
              <a:rPr lang="es-AR" smtClean="0"/>
              <a:t>22/6/2026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D47503-58D1-4052-97E1-C8BE765CAE85}" type="slidenum">
              <a:rPr lang="es-AR" smtClean="0"/>
              <a:t>‹Nº›</a:t>
            </a:fld>
            <a:endParaRPr lang="es-AR"/>
          </a:p>
        </p:txBody>
      </p:sp>
    </p:spTree>
    <p:extLst>
      <p:ext uri="{BB962C8B-B14F-4D97-AF65-F5344CB8AC3E}">
        <p14:creationId xmlns:p14="http://schemas.microsoft.com/office/powerpoint/2010/main" val="3649893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AR" dirty="0"/>
          </a:p>
          <a:p>
            <a:pPr marL="0" indent="0">
              <a:buFont typeface="Arial" panose="020B0604020202020204" pitchFamily="34" charset="0"/>
              <a:buNone/>
            </a:pPr>
            <a:endParaRPr lang="es-AR" dirty="0"/>
          </a:p>
        </p:txBody>
      </p:sp>
      <p:sp>
        <p:nvSpPr>
          <p:cNvPr id="4" name="Marcador de número de diapositiva 3"/>
          <p:cNvSpPr>
            <a:spLocks noGrp="1"/>
          </p:cNvSpPr>
          <p:nvPr>
            <p:ph type="sldNum" sz="quarter" idx="5"/>
          </p:nvPr>
        </p:nvSpPr>
        <p:spPr/>
        <p:txBody>
          <a:bodyPr/>
          <a:lstStyle/>
          <a:p>
            <a:fld id="{77D47503-58D1-4052-97E1-C8BE765CAE85}" type="slidenum">
              <a:rPr lang="es-AR" smtClean="0"/>
              <a:t>1</a:t>
            </a:fld>
            <a:endParaRPr lang="es-AR"/>
          </a:p>
        </p:txBody>
      </p:sp>
    </p:spTree>
    <p:extLst>
      <p:ext uri="{BB962C8B-B14F-4D97-AF65-F5344CB8AC3E}">
        <p14:creationId xmlns:p14="http://schemas.microsoft.com/office/powerpoint/2010/main" val="173513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0" indent="0" algn="just">
                  <a:buFont typeface="+mj-lt"/>
                  <a:buNone/>
                </a:pPr>
                <a:r>
                  <a:rPr lang="es-ES" dirty="0"/>
                  <a:t>Decimos que el atributo B depende funcionalmente de A si, conociendo el valor de A,  podemos conocer con total certeza el valor de B.</a:t>
                </a:r>
              </a:p>
              <a:p>
                <a:pPr marL="0" indent="0" algn="just">
                  <a:buFont typeface="+mj-lt"/>
                  <a:buNone/>
                </a:pPr>
                <a:endParaRPr lang="es-ES" dirty="0"/>
              </a:p>
              <a:p>
                <a:r>
                  <a:rPr lang="es-AR" sz="1200" b="0" i="0" kern="1200" dirty="0">
                    <a:solidFill>
                      <a:schemeClr val="tx1"/>
                    </a:solidFill>
                    <a:effectLst/>
                    <a:latin typeface="+mn-lt"/>
                    <a:ea typeface="+mn-ea"/>
                    <a:cs typeface="+mn-cs"/>
                  </a:rPr>
                  <a:t>La Dependencia Funcional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𝐴</m:t>
                    </m:r>
                    <m:r>
                      <a:rPr lang="es-AR" sz="1200" i="0" kern="1200">
                        <a:solidFill>
                          <a:schemeClr val="tx1"/>
                        </a:solidFill>
                        <a:latin typeface="Cambria Math" panose="02040503050406030204" pitchFamily="18" charset="0"/>
                        <a:ea typeface="+mn-ea"/>
                        <a:cs typeface="+mn-cs"/>
                      </a:rPr>
                      <m:t>→</m:t>
                    </m:r>
                    <m:r>
                      <a:rPr lang="es-AR" sz="1200" b="0" i="1" kern="1200" smtClean="0">
                        <a:solidFill>
                          <a:schemeClr val="tx1"/>
                        </a:solidFill>
                        <a:latin typeface="Cambria Math" panose="02040503050406030204" pitchFamily="18" charset="0"/>
                        <a:ea typeface="+mn-ea"/>
                        <a:cs typeface="+mn-cs"/>
                      </a:rPr>
                      <m:t>𝐵</m:t>
                    </m:r>
                  </m:oMath>
                </a14:m>
                <a:r>
                  <a:rPr lang="es-AR" sz="1200" b="0" i="0" kern="1200" dirty="0">
                    <a:solidFill>
                      <a:schemeClr val="tx1"/>
                    </a:solidFill>
                    <a:effectLst/>
                    <a:latin typeface="+mn-lt"/>
                    <a:ea typeface="+mn-ea"/>
                    <a:cs typeface="+mn-cs"/>
                  </a:rPr>
                  <a:t> en Bases de Datos</a:t>
                </a:r>
              </a:p>
              <a:p>
                <a:r>
                  <a:rPr lang="es-AR" sz="1200" b="0" i="0" kern="1200" dirty="0">
                    <a:solidFill>
                      <a:schemeClr val="tx1"/>
                    </a:solidFill>
                    <a:effectLst/>
                    <a:latin typeface="+mn-lt"/>
                    <a:ea typeface="+mn-ea"/>
                    <a:cs typeface="+mn-cs"/>
                  </a:rPr>
                  <a:t>Es exactamente la misma regla aplicada a las filas de una tabla:</a:t>
                </a:r>
              </a:p>
              <a:p>
                <a:r>
                  <a:rPr lang="es-AR" sz="1200" b="0" i="0" kern="1200" dirty="0">
                    <a:solidFill>
                      <a:schemeClr val="tx1"/>
                    </a:solidFill>
                    <a:effectLst/>
                    <a:latin typeface="+mn-lt"/>
                    <a:ea typeface="+mn-ea"/>
                    <a:cs typeface="+mn-cs"/>
                  </a:rPr>
                  <a:t>Decimos que el atributo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𝐵</m:t>
                    </m:r>
                  </m:oMath>
                </a14:m>
                <a:r>
                  <a:rPr lang="es-AR" sz="1200" b="0" i="0" kern="1200" dirty="0">
                    <a:solidFill>
                      <a:schemeClr val="tx1"/>
                    </a:solidFill>
                    <a:effectLst/>
                    <a:latin typeface="+mn-lt"/>
                    <a:ea typeface="+mn-ea"/>
                    <a:cs typeface="+mn-cs"/>
                  </a:rPr>
                  <a:t> depende funcionalmente de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𝐴</m:t>
                    </m:r>
                  </m:oMath>
                </a14:m>
                <a:r>
                  <a:rPr lang="es-AR" sz="1200" b="0" i="0" kern="1200" dirty="0">
                    <a:solidFill>
                      <a:schemeClr val="tx1"/>
                    </a:solidFill>
                    <a:effectLst/>
                    <a:latin typeface="+mn-lt"/>
                    <a:ea typeface="+mn-ea"/>
                    <a:cs typeface="+mn-cs"/>
                  </a:rPr>
                  <a:t>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𝐴</m:t>
                    </m:r>
                    <m:r>
                      <a:rPr lang="es-AR" sz="1200" i="0" kern="1200">
                        <a:solidFill>
                          <a:schemeClr val="tx1"/>
                        </a:solidFill>
                        <a:latin typeface="Cambria Math" panose="02040503050406030204" pitchFamily="18" charset="0"/>
                        <a:ea typeface="+mn-ea"/>
                        <a:cs typeface="+mn-cs"/>
                      </a:rPr>
                      <m:t>→</m:t>
                    </m:r>
                    <m:r>
                      <a:rPr lang="es-AR" sz="1200" b="0" i="1" kern="1200" smtClean="0">
                        <a:solidFill>
                          <a:schemeClr val="tx1"/>
                        </a:solidFill>
                        <a:latin typeface="Cambria Math" panose="02040503050406030204" pitchFamily="18" charset="0"/>
                        <a:ea typeface="+mn-ea"/>
                        <a:cs typeface="+mn-cs"/>
                      </a:rPr>
                      <m:t>𝐵</m:t>
                    </m:r>
                  </m:oMath>
                </a14:m>
                <a:r>
                  <a:rPr lang="es-AR" sz="1200" b="0" i="0" kern="1200" dirty="0">
                    <a:solidFill>
                      <a:schemeClr val="tx1"/>
                    </a:solidFill>
                    <a:effectLst/>
                    <a:latin typeface="+mn-lt"/>
                    <a:ea typeface="+mn-ea"/>
                    <a:cs typeface="+mn-cs"/>
                  </a:rPr>
                  <a:t>) si para cualquier valor del atributo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𝐴</m:t>
                    </m:r>
                  </m:oMath>
                </a14:m>
                <a:r>
                  <a:rPr lang="es-AR" sz="1200" b="0" i="0" kern="1200" dirty="0">
                    <a:solidFill>
                      <a:schemeClr val="tx1"/>
                    </a:solidFill>
                    <a:effectLst/>
                    <a:latin typeface="+mn-lt"/>
                    <a:ea typeface="+mn-ea"/>
                    <a:cs typeface="+mn-cs"/>
                  </a:rPr>
                  <a:t>, existe </a:t>
                </a:r>
                <a:r>
                  <a:rPr lang="es-AR" sz="1200" b="1" i="0" kern="1200" dirty="0">
                    <a:solidFill>
                      <a:schemeClr val="tx1"/>
                    </a:solidFill>
                    <a:effectLst/>
                    <a:latin typeface="+mn-lt"/>
                    <a:ea typeface="+mn-ea"/>
                    <a:cs typeface="+mn-cs"/>
                  </a:rPr>
                  <a:t>un único</a:t>
                </a:r>
                <a:r>
                  <a:rPr lang="es-AR" sz="1200" b="0" i="0" kern="1200" dirty="0">
                    <a:solidFill>
                      <a:schemeClr val="tx1"/>
                    </a:solidFill>
                    <a:effectLst/>
                    <a:latin typeface="+mn-lt"/>
                    <a:ea typeface="+mn-ea"/>
                    <a:cs typeface="+mn-cs"/>
                  </a:rPr>
                  <a:t> valor posible del atributo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𝐵</m:t>
                    </m:r>
                  </m:oMath>
                </a14:m>
                <a:r>
                  <a:rPr lang="es-AR" sz="1200" b="0" i="0" kern="1200" dirty="0">
                    <a:solidFill>
                      <a:schemeClr val="tx1"/>
                    </a:solidFill>
                    <a:effectLst/>
                    <a:latin typeface="+mn-lt"/>
                    <a:ea typeface="+mn-ea"/>
                    <a:cs typeface="+mn-cs"/>
                  </a:rPr>
                  <a:t>.</a:t>
                </a:r>
              </a:p>
              <a:p>
                <a:r>
                  <a:rPr lang="es-AR" sz="1200" b="0" i="0" kern="1200" dirty="0">
                    <a:solidFill>
                      <a:schemeClr val="tx1"/>
                    </a:solidFill>
                    <a:effectLst/>
                    <a:latin typeface="+mn-lt"/>
                    <a:ea typeface="+mn-ea"/>
                    <a:cs typeface="+mn-cs"/>
                  </a:rPr>
                  <a:t>En términos formales: si dos filas tienen el mismo valor en la columna </a:t>
                </a:r>
                <a14:m>
                  <m:oMath xmlns:m="http://schemas.openxmlformats.org/officeDocument/2006/math">
                    <m:r>
                      <a:rPr lang="es-AR" sz="1200" b="0" i="1" kern="1200" smtClean="0">
                        <a:solidFill>
                          <a:schemeClr val="tx1"/>
                        </a:solidFill>
                        <a:latin typeface="Cambria Math" panose="02040503050406030204" pitchFamily="18" charset="0"/>
                        <a:ea typeface="+mn-ea"/>
                        <a:cs typeface="+mn-cs"/>
                      </a:rPr>
                      <m:t>𝐴</m:t>
                    </m:r>
                  </m:oMath>
                </a14:m>
                <a:r>
                  <a:rPr lang="es-AR" sz="1200" b="0" i="0" kern="1200" dirty="0">
                    <a:solidFill>
                      <a:schemeClr val="tx1"/>
                    </a:solidFill>
                    <a:effectLst/>
                    <a:latin typeface="+mn-lt"/>
                    <a:ea typeface="+mn-ea"/>
                    <a:cs typeface="+mn-cs"/>
                  </a:rPr>
                  <a:t>, obligatoriamente tienen que tener el mismo valor en la columna </a:t>
                </a:r>
                <a14:m>
                  <m:oMath xmlns:m="http://schemas.openxmlformats.org/officeDocument/2006/math">
                    <m:r>
                      <m:rPr>
                        <m:sty m:val="p"/>
                      </m:rPr>
                      <a:rPr lang="es-AR" sz="1200" b="0" i="0" kern="1200" smtClean="0">
                        <a:solidFill>
                          <a:schemeClr val="tx1"/>
                        </a:solidFill>
                        <a:latin typeface="Cambria Math" panose="02040503050406030204" pitchFamily="18" charset="0"/>
                        <a:ea typeface="+mn-ea"/>
                        <a:cs typeface="+mn-cs"/>
                      </a:rPr>
                      <m:t>B</m:t>
                    </m:r>
                  </m:oMath>
                </a14:m>
                <a:r>
                  <a:rPr lang="es-AR" sz="1200" b="0" i="0" kern="1200" dirty="0">
                    <a:solidFill>
                      <a:schemeClr val="tx1"/>
                    </a:solidFill>
                    <a:effectLst/>
                    <a:latin typeface="+mn-lt"/>
                    <a:ea typeface="+mn-ea"/>
                    <a:cs typeface="+mn-cs"/>
                  </a:rPr>
                  <a:t>.</a:t>
                </a:r>
              </a:p>
              <a:p>
                <a:pPr marL="0" indent="0" algn="just">
                  <a:buFont typeface="+mj-lt"/>
                  <a:buNone/>
                </a:pPr>
                <a:endParaRPr lang="es-ES" dirty="0"/>
              </a:p>
            </p:txBody>
          </p:sp>
        </mc:Choice>
        <mc:Fallback xmlns="">
          <p:sp>
            <p:nvSpPr>
              <p:cNvPr id="3" name="Marcador de notas 2"/>
              <p:cNvSpPr>
                <a:spLocks noGrp="1"/>
              </p:cNvSpPr>
              <p:nvPr>
                <p:ph type="body" idx="1"/>
              </p:nvPr>
            </p:nvSpPr>
            <p:spPr/>
            <p:txBody>
              <a:bodyPr/>
              <a:lstStyle/>
              <a:p>
                <a:pPr marL="0" indent="0" algn="just">
                  <a:buFont typeface="+mj-lt"/>
                  <a:buNone/>
                </a:pPr>
                <a:r>
                  <a:rPr lang="es-ES" dirty="0"/>
                  <a:t>Decimos que el atributo B depende funcionalmente de A si, conociendo el valor de A,  podemos conocer con total certeza el valor de B.</a:t>
                </a:r>
              </a:p>
              <a:p>
                <a:pPr marL="0" indent="0" algn="just">
                  <a:buFont typeface="+mj-lt"/>
                  <a:buNone/>
                </a:pPr>
                <a:endParaRPr lang="es-ES" dirty="0"/>
              </a:p>
              <a:p>
                <a:r>
                  <a:rPr lang="es-AR" sz="1200" b="0" i="0" kern="1200" dirty="0">
                    <a:solidFill>
                      <a:schemeClr val="tx1"/>
                    </a:solidFill>
                    <a:effectLst/>
                    <a:latin typeface="+mn-lt"/>
                    <a:ea typeface="+mn-ea"/>
                    <a:cs typeface="+mn-cs"/>
                  </a:rPr>
                  <a:t>La Dependencia Funcional </a:t>
                </a:r>
                <a:r>
                  <a:rPr lang="es-AR" sz="1200" b="0" i="0" kern="1200">
                    <a:solidFill>
                      <a:schemeClr val="tx1"/>
                    </a:solidFill>
                    <a:latin typeface="Cambria Math" panose="02040503050406030204" pitchFamily="18" charset="0"/>
                    <a:ea typeface="+mn-ea"/>
                    <a:cs typeface="+mn-cs"/>
                  </a:rPr>
                  <a:t>𝐴</a:t>
                </a:r>
                <a:r>
                  <a:rPr lang="es-AR" sz="1200" i="0" kern="1200">
                    <a:solidFill>
                      <a:schemeClr val="tx1"/>
                    </a:solidFill>
                    <a:latin typeface="+mn-lt"/>
                    <a:ea typeface="+mn-ea"/>
                    <a:cs typeface="+mn-cs"/>
                  </a:rPr>
                  <a:t>→</a:t>
                </a:r>
                <a:r>
                  <a:rPr lang="es-AR" sz="1200" b="0" i="0" kern="1200">
                    <a:solidFill>
                      <a:schemeClr val="tx1"/>
                    </a:solidFill>
                    <a:latin typeface="Cambria Math" panose="02040503050406030204" pitchFamily="18" charset="0"/>
                    <a:ea typeface="+mn-ea"/>
                    <a:cs typeface="+mn-cs"/>
                  </a:rPr>
                  <a:t>𝐵</a:t>
                </a:r>
                <a:r>
                  <a:rPr lang="es-AR" sz="1200" b="0" i="0" kern="1200" dirty="0">
                    <a:solidFill>
                      <a:schemeClr val="tx1"/>
                    </a:solidFill>
                    <a:effectLst/>
                    <a:latin typeface="+mn-lt"/>
                    <a:ea typeface="+mn-ea"/>
                    <a:cs typeface="+mn-cs"/>
                  </a:rPr>
                  <a:t> en Bases de Datos</a:t>
                </a:r>
              </a:p>
              <a:p>
                <a:r>
                  <a:rPr lang="es-AR" sz="1200" b="0" i="0" kern="1200" dirty="0">
                    <a:solidFill>
                      <a:schemeClr val="tx1"/>
                    </a:solidFill>
                    <a:effectLst/>
                    <a:latin typeface="+mn-lt"/>
                    <a:ea typeface="+mn-ea"/>
                    <a:cs typeface="+mn-cs"/>
                  </a:rPr>
                  <a:t>Es exactamente la misma regla aplicada a las filas de una tabla:</a:t>
                </a:r>
              </a:p>
              <a:p>
                <a:r>
                  <a:rPr lang="es-AR" sz="1200" b="0" i="0" kern="1200" dirty="0">
                    <a:solidFill>
                      <a:schemeClr val="tx1"/>
                    </a:solidFill>
                    <a:effectLst/>
                    <a:latin typeface="+mn-lt"/>
                    <a:ea typeface="+mn-ea"/>
                    <a:cs typeface="+mn-cs"/>
                  </a:rPr>
                  <a:t>Decimos que el atributo </a:t>
                </a:r>
                <a:r>
                  <a:rPr lang="es-AR" sz="1200" b="0" i="0" kern="1200">
                    <a:solidFill>
                      <a:schemeClr val="tx1"/>
                    </a:solidFill>
                    <a:latin typeface="Cambria Math" panose="02040503050406030204" pitchFamily="18" charset="0"/>
                    <a:ea typeface="+mn-ea"/>
                    <a:cs typeface="+mn-cs"/>
                  </a:rPr>
                  <a:t>𝐵</a:t>
                </a:r>
                <a:r>
                  <a:rPr lang="es-AR" sz="1200" b="0" i="0" kern="1200" dirty="0">
                    <a:solidFill>
                      <a:schemeClr val="tx1"/>
                    </a:solidFill>
                    <a:effectLst/>
                    <a:latin typeface="+mn-lt"/>
                    <a:ea typeface="+mn-ea"/>
                    <a:cs typeface="+mn-cs"/>
                  </a:rPr>
                  <a:t> depende funcionalmente de </a:t>
                </a:r>
                <a:r>
                  <a:rPr lang="es-AR" sz="1200" b="0" i="0" kern="1200">
                    <a:solidFill>
                      <a:schemeClr val="tx1"/>
                    </a:solidFill>
                    <a:latin typeface="Cambria Math" panose="02040503050406030204" pitchFamily="18" charset="0"/>
                    <a:ea typeface="+mn-ea"/>
                    <a:cs typeface="+mn-cs"/>
                  </a:rPr>
                  <a:t>𝐴</a:t>
                </a:r>
                <a:r>
                  <a:rPr lang="es-AR" sz="1200" b="0" i="0" kern="1200" dirty="0">
                    <a:solidFill>
                      <a:schemeClr val="tx1"/>
                    </a:solidFill>
                    <a:effectLst/>
                    <a:latin typeface="+mn-lt"/>
                    <a:ea typeface="+mn-ea"/>
                    <a:cs typeface="+mn-cs"/>
                  </a:rPr>
                  <a:t> (</a:t>
                </a:r>
                <a:r>
                  <a:rPr lang="es-AR" sz="1200" b="0" i="0" kern="1200">
                    <a:solidFill>
                      <a:schemeClr val="tx1"/>
                    </a:solidFill>
                    <a:latin typeface="Cambria Math" panose="02040503050406030204" pitchFamily="18" charset="0"/>
                    <a:ea typeface="+mn-ea"/>
                    <a:cs typeface="+mn-cs"/>
                  </a:rPr>
                  <a:t>𝐴</a:t>
                </a:r>
                <a:r>
                  <a:rPr lang="es-AR" sz="1200" i="0" kern="1200">
                    <a:solidFill>
                      <a:schemeClr val="tx1"/>
                    </a:solidFill>
                    <a:latin typeface="+mn-lt"/>
                    <a:ea typeface="+mn-ea"/>
                    <a:cs typeface="+mn-cs"/>
                  </a:rPr>
                  <a:t>→</a:t>
                </a:r>
                <a:r>
                  <a:rPr lang="es-AR" sz="1200" b="0" i="0" kern="1200">
                    <a:solidFill>
                      <a:schemeClr val="tx1"/>
                    </a:solidFill>
                    <a:latin typeface="Cambria Math" panose="02040503050406030204" pitchFamily="18" charset="0"/>
                    <a:ea typeface="+mn-ea"/>
                    <a:cs typeface="+mn-cs"/>
                  </a:rPr>
                  <a:t>𝐵</a:t>
                </a:r>
                <a:r>
                  <a:rPr lang="es-AR" sz="1200" b="0" i="0" kern="1200" dirty="0">
                    <a:solidFill>
                      <a:schemeClr val="tx1"/>
                    </a:solidFill>
                    <a:effectLst/>
                    <a:latin typeface="+mn-lt"/>
                    <a:ea typeface="+mn-ea"/>
                    <a:cs typeface="+mn-cs"/>
                  </a:rPr>
                  <a:t>) si para cualquier valor del atributo </a:t>
                </a:r>
                <a:r>
                  <a:rPr lang="es-AR" sz="1200" b="0" i="0" kern="1200">
                    <a:solidFill>
                      <a:schemeClr val="tx1"/>
                    </a:solidFill>
                    <a:latin typeface="Cambria Math" panose="02040503050406030204" pitchFamily="18" charset="0"/>
                    <a:ea typeface="+mn-ea"/>
                    <a:cs typeface="+mn-cs"/>
                  </a:rPr>
                  <a:t>𝐴</a:t>
                </a:r>
                <a:r>
                  <a:rPr lang="es-AR" sz="1200" b="0" i="0" kern="1200" dirty="0">
                    <a:solidFill>
                      <a:schemeClr val="tx1"/>
                    </a:solidFill>
                    <a:effectLst/>
                    <a:latin typeface="+mn-lt"/>
                    <a:ea typeface="+mn-ea"/>
                    <a:cs typeface="+mn-cs"/>
                  </a:rPr>
                  <a:t>, existe </a:t>
                </a:r>
                <a:r>
                  <a:rPr lang="es-AR" sz="1200" b="1" i="0" kern="1200" dirty="0">
                    <a:solidFill>
                      <a:schemeClr val="tx1"/>
                    </a:solidFill>
                    <a:effectLst/>
                    <a:latin typeface="+mn-lt"/>
                    <a:ea typeface="+mn-ea"/>
                    <a:cs typeface="+mn-cs"/>
                  </a:rPr>
                  <a:t>un único</a:t>
                </a:r>
                <a:r>
                  <a:rPr lang="es-AR" sz="1200" b="0" i="0" kern="1200" dirty="0">
                    <a:solidFill>
                      <a:schemeClr val="tx1"/>
                    </a:solidFill>
                    <a:effectLst/>
                    <a:latin typeface="+mn-lt"/>
                    <a:ea typeface="+mn-ea"/>
                    <a:cs typeface="+mn-cs"/>
                  </a:rPr>
                  <a:t> valor posible del atributo </a:t>
                </a:r>
                <a:r>
                  <a:rPr lang="es-AR" sz="1200" b="0" i="0" kern="1200">
                    <a:solidFill>
                      <a:schemeClr val="tx1"/>
                    </a:solidFill>
                    <a:latin typeface="Cambria Math" panose="02040503050406030204" pitchFamily="18" charset="0"/>
                    <a:ea typeface="+mn-ea"/>
                    <a:cs typeface="+mn-cs"/>
                  </a:rPr>
                  <a:t>𝐵</a:t>
                </a:r>
                <a:r>
                  <a:rPr lang="es-AR" sz="1200" b="0" i="0" kern="1200" dirty="0">
                    <a:solidFill>
                      <a:schemeClr val="tx1"/>
                    </a:solidFill>
                    <a:effectLst/>
                    <a:latin typeface="+mn-lt"/>
                    <a:ea typeface="+mn-ea"/>
                    <a:cs typeface="+mn-cs"/>
                  </a:rPr>
                  <a:t>.</a:t>
                </a:r>
              </a:p>
              <a:p>
                <a:r>
                  <a:rPr lang="es-AR" sz="1200" b="0" i="0" kern="1200" dirty="0">
                    <a:solidFill>
                      <a:schemeClr val="tx1"/>
                    </a:solidFill>
                    <a:effectLst/>
                    <a:latin typeface="+mn-lt"/>
                    <a:ea typeface="+mn-ea"/>
                    <a:cs typeface="+mn-cs"/>
                  </a:rPr>
                  <a:t>En términos formales: si dos filas tienen el mismo valor en la columna </a:t>
                </a:r>
                <a:r>
                  <a:rPr lang="es-AR" sz="1200" b="0" i="0" kern="1200">
                    <a:solidFill>
                      <a:schemeClr val="tx1"/>
                    </a:solidFill>
                    <a:latin typeface="Cambria Math" panose="02040503050406030204" pitchFamily="18" charset="0"/>
                    <a:ea typeface="+mn-ea"/>
                    <a:cs typeface="+mn-cs"/>
                  </a:rPr>
                  <a:t>𝐴</a:t>
                </a:r>
                <a:r>
                  <a:rPr lang="es-AR" sz="1200" b="0" i="0" kern="1200" dirty="0">
                    <a:solidFill>
                      <a:schemeClr val="tx1"/>
                    </a:solidFill>
                    <a:effectLst/>
                    <a:latin typeface="+mn-lt"/>
                    <a:ea typeface="+mn-ea"/>
                    <a:cs typeface="+mn-cs"/>
                  </a:rPr>
                  <a:t>, obligatoriamente tienen que tener el mismo valor en la columna </a:t>
                </a:r>
                <a:r>
                  <a:rPr lang="es-AR" sz="1200" b="0" i="0" kern="1200">
                    <a:solidFill>
                      <a:schemeClr val="tx1"/>
                    </a:solidFill>
                    <a:latin typeface="Cambria Math" panose="02040503050406030204" pitchFamily="18" charset="0"/>
                    <a:ea typeface="+mn-ea"/>
                    <a:cs typeface="+mn-cs"/>
                  </a:rPr>
                  <a:t>B</a:t>
                </a:r>
                <a:r>
                  <a:rPr lang="es-AR" sz="1200" b="0" i="0" kern="1200" dirty="0">
                    <a:solidFill>
                      <a:schemeClr val="tx1"/>
                    </a:solidFill>
                    <a:effectLst/>
                    <a:latin typeface="+mn-lt"/>
                    <a:ea typeface="+mn-ea"/>
                    <a:cs typeface="+mn-cs"/>
                  </a:rPr>
                  <a:t>.</a:t>
                </a:r>
              </a:p>
              <a:p>
                <a:pPr marL="0" indent="0" algn="just">
                  <a:buFont typeface="+mj-lt"/>
                  <a:buNone/>
                </a:pPr>
                <a:endParaRPr lang="es-ES" dirty="0"/>
              </a:p>
            </p:txBody>
          </p:sp>
        </mc:Fallback>
      </mc:AlternateContent>
      <p:sp>
        <p:nvSpPr>
          <p:cNvPr id="4" name="Marcador de número de diapositiva 3"/>
          <p:cNvSpPr>
            <a:spLocks noGrp="1"/>
          </p:cNvSpPr>
          <p:nvPr>
            <p:ph type="sldNum" sz="quarter" idx="5"/>
          </p:nvPr>
        </p:nvSpPr>
        <p:spPr/>
        <p:txBody>
          <a:bodyPr/>
          <a:lstStyle/>
          <a:p>
            <a:fld id="{77D47503-58D1-4052-97E1-C8BE765CAE85}" type="slidenum">
              <a:rPr lang="es-AR" smtClean="0"/>
              <a:t>2</a:t>
            </a:fld>
            <a:endParaRPr lang="es-AR"/>
          </a:p>
        </p:txBody>
      </p:sp>
    </p:spTree>
    <p:extLst>
      <p:ext uri="{BB962C8B-B14F-4D97-AF65-F5344CB8AC3E}">
        <p14:creationId xmlns:p14="http://schemas.microsoft.com/office/powerpoint/2010/main" val="3607499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E441-10C0-E801-60E2-8769CC6BD9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787783-D585-D1D6-69A8-7B3D6E4B7D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497A4A-6BC7-1B28-7659-15A33C8E65E2}"/>
              </a:ext>
            </a:extLst>
          </p:cNvPr>
          <p:cNvSpPr>
            <a:spLocks noGrp="1"/>
          </p:cNvSpPr>
          <p:nvPr>
            <p:ph type="body" idx="1"/>
          </p:nvPr>
        </p:nvSpPr>
        <p:spPr/>
        <p:txBody>
          <a:bodyPr/>
          <a:lstStyle/>
          <a:p>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EE569EDF-28BD-C36E-D7F2-95553315F853}"/>
              </a:ext>
            </a:extLst>
          </p:cNvPr>
          <p:cNvSpPr>
            <a:spLocks noGrp="1"/>
          </p:cNvSpPr>
          <p:nvPr>
            <p:ph type="sldNum" sz="quarter" idx="5"/>
          </p:nvPr>
        </p:nvSpPr>
        <p:spPr/>
        <p:txBody>
          <a:bodyPr/>
          <a:lstStyle/>
          <a:p>
            <a:fld id="{77D47503-58D1-4052-97E1-C8BE765CAE85}" type="slidenum">
              <a:rPr lang="es-AR" smtClean="0"/>
              <a:t>3</a:t>
            </a:fld>
            <a:endParaRPr lang="es-AR"/>
          </a:p>
        </p:txBody>
      </p:sp>
    </p:spTree>
    <p:extLst>
      <p:ext uri="{BB962C8B-B14F-4D97-AF65-F5344CB8AC3E}">
        <p14:creationId xmlns:p14="http://schemas.microsoft.com/office/powerpoint/2010/main" val="41234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BE58-4919-AC3F-95E7-5B24D6B064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BB4CF2-333F-15B4-0564-509D78161A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5A1C80C-D2DB-E5B6-38CF-EE57C458FB66}"/>
              </a:ext>
            </a:extLst>
          </p:cNvPr>
          <p:cNvSpPr>
            <a:spLocks noGrp="1"/>
          </p:cNvSpPr>
          <p:nvPr>
            <p:ph type="body" idx="1"/>
          </p:nvPr>
        </p:nvSpPr>
        <p:spPr/>
        <p:txBody>
          <a:bodyPr/>
          <a:lstStyle/>
          <a:p>
            <a:r>
              <a:rPr lang="es-AR" sz="1200" b="0" i="0" kern="1200" dirty="0">
                <a:solidFill>
                  <a:schemeClr val="tx1"/>
                </a:solidFill>
                <a:effectLst/>
                <a:latin typeface="+mn-lt"/>
                <a:ea typeface="+mn-ea"/>
                <a:cs typeface="+mn-cs"/>
              </a:rPr>
              <a:t>En algunos casos </a:t>
            </a:r>
            <a:r>
              <a:rPr lang="es-AR" sz="1200" b="1" i="0" kern="1200" dirty="0">
                <a:solidFill>
                  <a:schemeClr val="tx1"/>
                </a:solidFill>
                <a:effectLst/>
                <a:latin typeface="+mn-lt"/>
                <a:ea typeface="+mn-ea"/>
                <a:cs typeface="+mn-cs"/>
              </a:rPr>
              <a:t>la determinante pueden ser varios atributos en vez de uno</a:t>
            </a:r>
            <a:r>
              <a:rPr lang="es-AR" sz="1200" b="0" i="0" kern="1200" dirty="0">
                <a:solidFill>
                  <a:schemeClr val="tx1"/>
                </a:solidFill>
                <a:effectLst/>
                <a:latin typeface="+mn-lt"/>
                <a:ea typeface="+mn-ea"/>
                <a:cs typeface="+mn-cs"/>
              </a:rPr>
              <a:t>.</a:t>
            </a:r>
          </a:p>
          <a:p>
            <a:endParaRPr lang="es-AR"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3. El Impacto: ¿Por qué nos molesta la Dependencia Parcial?</a:t>
            </a:r>
          </a:p>
          <a:p>
            <a:r>
              <a:rPr lang="es-ES" sz="1200" b="0" i="0" kern="1200" dirty="0">
                <a:solidFill>
                  <a:schemeClr val="tx1"/>
                </a:solidFill>
                <a:effectLst/>
                <a:latin typeface="+mn-lt"/>
                <a:ea typeface="+mn-ea"/>
                <a:cs typeface="+mn-cs"/>
              </a:rPr>
              <a:t>  Diles a los alumnos: "Si hay una dependencia parcial, la tabla es una mentirosa".</a:t>
            </a:r>
          </a:p>
          <a:p>
            <a:r>
              <a:rPr lang="es-ES" sz="1200" b="0" i="0" kern="1200" dirty="0">
                <a:solidFill>
                  <a:schemeClr val="tx1"/>
                </a:solidFill>
                <a:effectLst/>
                <a:latin typeface="+mn-lt"/>
                <a:ea typeface="+mn-ea"/>
                <a:cs typeface="+mn-cs"/>
              </a:rPr>
              <a:t>   * Si Martín (Técnico 1) usa 100 repuestos diferentes, ¡voy a tener escrito el nombre "Martín" 100 veces! (Redundancia).</a:t>
            </a:r>
          </a:p>
          <a:p>
            <a:r>
              <a:rPr lang="es-ES" sz="1200" b="0" i="0" kern="1200" dirty="0">
                <a:solidFill>
                  <a:schemeClr val="tx1"/>
                </a:solidFill>
                <a:effectLst/>
                <a:latin typeface="+mn-lt"/>
                <a:ea typeface="+mn-ea"/>
                <a:cs typeface="+mn-cs"/>
              </a:rPr>
              <a:t>   * Si quiero cambiar el precio de la pantalla, tengo que buscar a todos los técnicos que la usaron para actualizarlo. (Anomalía de Modificación).</a:t>
            </a:r>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888CE835-844C-FC92-B7F6-B17CCDA29718}"/>
              </a:ext>
            </a:extLst>
          </p:cNvPr>
          <p:cNvSpPr>
            <a:spLocks noGrp="1"/>
          </p:cNvSpPr>
          <p:nvPr>
            <p:ph type="sldNum" sz="quarter" idx="5"/>
          </p:nvPr>
        </p:nvSpPr>
        <p:spPr/>
        <p:txBody>
          <a:bodyPr/>
          <a:lstStyle/>
          <a:p>
            <a:fld id="{77D47503-58D1-4052-97E1-C8BE765CAE85}" type="slidenum">
              <a:rPr lang="es-AR" smtClean="0"/>
              <a:t>4</a:t>
            </a:fld>
            <a:endParaRPr lang="es-AR"/>
          </a:p>
        </p:txBody>
      </p:sp>
    </p:spTree>
    <p:extLst>
      <p:ext uri="{BB962C8B-B14F-4D97-AF65-F5344CB8AC3E}">
        <p14:creationId xmlns:p14="http://schemas.microsoft.com/office/powerpoint/2010/main" val="3334337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B398-3044-9E79-E7EA-0ECEF14E1C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2DA1EA1-0862-868B-08F9-AC45C6CDD6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B0857D-455A-7285-C4A4-4D64E8A2CB5E}"/>
              </a:ext>
            </a:extLst>
          </p:cNvPr>
          <p:cNvSpPr>
            <a:spLocks noGrp="1"/>
          </p:cNvSpPr>
          <p:nvPr>
            <p:ph type="body" idx="1"/>
          </p:nvPr>
        </p:nvSpPr>
        <p:spPr/>
        <p:txBody>
          <a:bodyPr/>
          <a:lstStyle/>
          <a:p>
            <a:pPr algn="r"/>
            <a:r>
              <a:rPr lang="es-ES" sz="1200" b="0" i="0" kern="1200" dirty="0">
                <a:solidFill>
                  <a:schemeClr val="tx1"/>
                </a:solidFill>
                <a:effectLst/>
                <a:latin typeface="+mn-lt"/>
                <a:ea typeface="+mn-ea"/>
                <a:cs typeface="+mn-cs"/>
              </a:rPr>
              <a:t>		Distinguir entre la información que es "obvia por definición" y la información que es</a:t>
            </a:r>
          </a:p>
          <a:p>
            <a:r>
              <a:rPr lang="es-ES" sz="1200" b="0" i="0" kern="1200" dirty="0">
                <a:solidFill>
                  <a:schemeClr val="tx1"/>
                </a:solidFill>
                <a:effectLst/>
                <a:latin typeface="+mn-lt"/>
                <a:ea typeface="+mn-ea"/>
                <a:cs typeface="+mn-cs"/>
              </a:rPr>
              <a:t>  una "regla de negocio". Aquí es donde entran las dependencias triviales y no triviales.</a:t>
            </a:r>
          </a:p>
          <a:p>
            <a:endParaRPr lang="es-ES" sz="1200" b="0" i="0" kern="1200" dirty="0">
              <a:solidFill>
                <a:schemeClr val="tx1"/>
              </a:solidFill>
              <a:effectLst/>
              <a:latin typeface="+mn-lt"/>
              <a:ea typeface="+mn-ea"/>
              <a:cs typeface="+mn-cs"/>
            </a:endParaRP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 En lenguaje humano: "Si ya conozco el conjunto de datos completo, es obvio que conozco una de sus partes".</a:t>
            </a:r>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B728E2BE-FB8B-EF7D-253D-BD72893CA92E}"/>
              </a:ext>
            </a:extLst>
          </p:cNvPr>
          <p:cNvSpPr>
            <a:spLocks noGrp="1"/>
          </p:cNvSpPr>
          <p:nvPr>
            <p:ph type="sldNum" sz="quarter" idx="5"/>
          </p:nvPr>
        </p:nvSpPr>
        <p:spPr/>
        <p:txBody>
          <a:bodyPr/>
          <a:lstStyle/>
          <a:p>
            <a:fld id="{77D47503-58D1-4052-97E1-C8BE765CAE85}" type="slidenum">
              <a:rPr lang="es-AR" smtClean="0"/>
              <a:t>5</a:t>
            </a:fld>
            <a:endParaRPr lang="es-AR"/>
          </a:p>
        </p:txBody>
      </p:sp>
    </p:spTree>
    <p:extLst>
      <p:ext uri="{BB962C8B-B14F-4D97-AF65-F5344CB8AC3E}">
        <p14:creationId xmlns:p14="http://schemas.microsoft.com/office/powerpoint/2010/main" val="4233264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6D8D-A1CB-F54D-D092-CAEE57BAB4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7832C6-1B01-806B-935E-E632C35800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FE3B586-CE35-FF83-A2C6-DED9347EE079}"/>
              </a:ext>
            </a:extLst>
          </p:cNvPr>
          <p:cNvSpPr>
            <a:spLocks noGrp="1"/>
          </p:cNvSpPr>
          <p:nvPr>
            <p:ph type="body" idx="1"/>
          </p:nvPr>
        </p:nvSpPr>
        <p:spPr/>
        <p:txBody>
          <a:bodyPr/>
          <a:lstStyle/>
          <a:p>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B0B0543C-3641-89D8-B8D0-4FF6D1BCE3E7}"/>
              </a:ext>
            </a:extLst>
          </p:cNvPr>
          <p:cNvSpPr>
            <a:spLocks noGrp="1"/>
          </p:cNvSpPr>
          <p:nvPr>
            <p:ph type="sldNum" sz="quarter" idx="5"/>
          </p:nvPr>
        </p:nvSpPr>
        <p:spPr/>
        <p:txBody>
          <a:bodyPr/>
          <a:lstStyle/>
          <a:p>
            <a:fld id="{77D47503-58D1-4052-97E1-C8BE765CAE85}" type="slidenum">
              <a:rPr lang="es-AR" smtClean="0"/>
              <a:t>6</a:t>
            </a:fld>
            <a:endParaRPr lang="es-AR"/>
          </a:p>
        </p:txBody>
      </p:sp>
    </p:spTree>
    <p:extLst>
      <p:ext uri="{BB962C8B-B14F-4D97-AF65-F5344CB8AC3E}">
        <p14:creationId xmlns:p14="http://schemas.microsoft.com/office/powerpoint/2010/main" val="736502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FC0AC-79AC-6363-4B91-6CCF3715F4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F59A8E-1CD6-6480-5840-8618EC466F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5BB47F-47F5-91CD-6151-5BFF8F355ADF}"/>
              </a:ext>
            </a:extLst>
          </p:cNvPr>
          <p:cNvSpPr>
            <a:spLocks noGrp="1"/>
          </p:cNvSpPr>
          <p:nvPr>
            <p:ph type="body" idx="1"/>
          </p:nvPr>
        </p:nvSpPr>
        <p:spPr/>
        <p:txBody>
          <a:bodyPr/>
          <a:lstStyle/>
          <a:p>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65F676A4-7E8F-2C9B-1D09-F9E8425A47C1}"/>
              </a:ext>
            </a:extLst>
          </p:cNvPr>
          <p:cNvSpPr>
            <a:spLocks noGrp="1"/>
          </p:cNvSpPr>
          <p:nvPr>
            <p:ph type="sldNum" sz="quarter" idx="5"/>
          </p:nvPr>
        </p:nvSpPr>
        <p:spPr/>
        <p:txBody>
          <a:bodyPr/>
          <a:lstStyle/>
          <a:p>
            <a:fld id="{77D47503-58D1-4052-97E1-C8BE765CAE85}" type="slidenum">
              <a:rPr lang="es-AR" smtClean="0"/>
              <a:t>7</a:t>
            </a:fld>
            <a:endParaRPr lang="es-AR"/>
          </a:p>
        </p:txBody>
      </p:sp>
    </p:spTree>
    <p:extLst>
      <p:ext uri="{BB962C8B-B14F-4D97-AF65-F5344CB8AC3E}">
        <p14:creationId xmlns:p14="http://schemas.microsoft.com/office/powerpoint/2010/main" val="2326694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FA5CE-069D-DD12-DBA3-2118227B72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9F0873-3C64-D718-8449-3F9416F68B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38EE96-98D8-D91D-BF85-67444888CDDE}"/>
              </a:ext>
            </a:extLst>
          </p:cNvPr>
          <p:cNvSpPr>
            <a:spLocks noGrp="1"/>
          </p:cNvSpPr>
          <p:nvPr>
            <p:ph type="body" idx="1"/>
          </p:nvPr>
        </p:nvSpPr>
        <p:spPr/>
        <p:txBody>
          <a:bodyPr/>
          <a:lstStyle/>
          <a:p>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FD6E120D-708E-0D57-9073-444776DC0CED}"/>
              </a:ext>
            </a:extLst>
          </p:cNvPr>
          <p:cNvSpPr>
            <a:spLocks noGrp="1"/>
          </p:cNvSpPr>
          <p:nvPr>
            <p:ph type="sldNum" sz="quarter" idx="5"/>
          </p:nvPr>
        </p:nvSpPr>
        <p:spPr/>
        <p:txBody>
          <a:bodyPr/>
          <a:lstStyle/>
          <a:p>
            <a:fld id="{77D47503-58D1-4052-97E1-C8BE765CAE85}" type="slidenum">
              <a:rPr lang="es-AR" smtClean="0"/>
              <a:t>8</a:t>
            </a:fld>
            <a:endParaRPr lang="es-AR"/>
          </a:p>
        </p:txBody>
      </p:sp>
    </p:spTree>
    <p:extLst>
      <p:ext uri="{BB962C8B-B14F-4D97-AF65-F5344CB8AC3E}">
        <p14:creationId xmlns:p14="http://schemas.microsoft.com/office/powerpoint/2010/main" val="3918117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1845B-668B-78F4-1802-8240EDB61A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660C470-BE50-E484-5A86-46BC5AA4DA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9826621-AFEE-5CC3-E7AB-2D8DC5D9530F}"/>
              </a:ext>
            </a:extLst>
          </p:cNvPr>
          <p:cNvSpPr>
            <a:spLocks noGrp="1"/>
          </p:cNvSpPr>
          <p:nvPr>
            <p:ph type="body" idx="1"/>
          </p:nvPr>
        </p:nvSpPr>
        <p:spPr/>
        <p:txBody>
          <a:bodyPr/>
          <a:lstStyle/>
          <a:p>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E319F52F-D3EF-21CF-B424-EC0667476613}"/>
              </a:ext>
            </a:extLst>
          </p:cNvPr>
          <p:cNvSpPr>
            <a:spLocks noGrp="1"/>
          </p:cNvSpPr>
          <p:nvPr>
            <p:ph type="sldNum" sz="quarter" idx="5"/>
          </p:nvPr>
        </p:nvSpPr>
        <p:spPr/>
        <p:txBody>
          <a:bodyPr/>
          <a:lstStyle/>
          <a:p>
            <a:fld id="{77D47503-58D1-4052-97E1-C8BE765CAE85}" type="slidenum">
              <a:rPr lang="es-AR" smtClean="0"/>
              <a:t>9</a:t>
            </a:fld>
            <a:endParaRPr lang="es-AR"/>
          </a:p>
        </p:txBody>
      </p:sp>
    </p:spTree>
    <p:extLst>
      <p:ext uri="{BB962C8B-B14F-4D97-AF65-F5344CB8AC3E}">
        <p14:creationId xmlns:p14="http://schemas.microsoft.com/office/powerpoint/2010/main" val="1273608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D5C8E-C121-6765-3C76-47BA0E0035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1EAB09-E361-47D3-AACB-02F27CFA80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49C328-CB2F-2D27-6186-F79C4192355E}"/>
              </a:ext>
            </a:extLst>
          </p:cNvPr>
          <p:cNvSpPr>
            <a:spLocks noGrp="1"/>
          </p:cNvSpPr>
          <p:nvPr>
            <p:ph type="body" idx="1"/>
          </p:nvPr>
        </p:nvSpPr>
        <p:spPr/>
        <p:txBody>
          <a:bodyPr/>
          <a:lstStyle/>
          <a:p>
            <a:r>
              <a:rPr lang="es-AR" dirty="0"/>
              <a:t>En 3FN eliminamos las dependencias transitivas. Esto significa que los atributos no clave no deben depender de otros atributos no clave.</a:t>
            </a:r>
          </a:p>
          <a:p>
            <a:r>
              <a:rPr lang="es-AR" dirty="0"/>
              <a:t>Ejemplo:</a:t>
            </a:r>
          </a:p>
          <a:p>
            <a:pPr rtl="0"/>
            <a:r>
              <a:rPr lang="es-AR" sz="1200" kern="1200" dirty="0">
                <a:solidFill>
                  <a:schemeClr val="tx1"/>
                </a:solidFill>
                <a:latin typeface="+mn-lt"/>
                <a:ea typeface="+mn-ea"/>
                <a:cs typeface="+mn-cs"/>
              </a:rPr>
              <a:t>Empleado</a:t>
            </a:r>
            <a:br>
              <a:rPr lang="es-AR" sz="1200" kern="1200" dirty="0">
                <a:solidFill>
                  <a:schemeClr val="tx1"/>
                </a:solidFill>
                <a:latin typeface="+mn-lt"/>
                <a:ea typeface="+mn-ea"/>
                <a:cs typeface="+mn-cs"/>
              </a:rPr>
            </a:br>
            <a:r>
              <a:rPr lang="es-AR" sz="1200" kern="1200" dirty="0">
                <a:solidFill>
                  <a:schemeClr val="tx1"/>
                </a:solidFill>
                <a:latin typeface="+mn-lt"/>
                <a:ea typeface="+mn-ea"/>
                <a:cs typeface="+mn-cs"/>
              </a:rPr>
              <a:t>---------</a:t>
            </a:r>
            <a:br>
              <a:rPr lang="es-AR" sz="1200" kern="1200" dirty="0">
                <a:solidFill>
                  <a:schemeClr val="tx1"/>
                </a:solidFill>
                <a:latin typeface="+mn-lt"/>
                <a:ea typeface="+mn-ea"/>
                <a:cs typeface="+mn-cs"/>
              </a:rPr>
            </a:br>
            <a:r>
              <a:rPr lang="es-AR" sz="1200" kern="1200" dirty="0">
                <a:solidFill>
                  <a:schemeClr val="tx1"/>
                </a:solidFill>
                <a:latin typeface="+mn-lt"/>
                <a:ea typeface="+mn-ea"/>
                <a:cs typeface="+mn-cs"/>
              </a:rPr>
              <a:t>Legajo</a:t>
            </a:r>
            <a:br>
              <a:rPr lang="es-AR" sz="1200" kern="1200" dirty="0">
                <a:solidFill>
                  <a:schemeClr val="tx1"/>
                </a:solidFill>
                <a:latin typeface="+mn-lt"/>
                <a:ea typeface="+mn-ea"/>
                <a:cs typeface="+mn-cs"/>
              </a:rPr>
            </a:br>
            <a:r>
              <a:rPr lang="es-AR" sz="1200" kern="1200" dirty="0">
                <a:solidFill>
                  <a:schemeClr val="tx1"/>
                </a:solidFill>
                <a:latin typeface="+mn-lt"/>
                <a:ea typeface="+mn-ea"/>
                <a:cs typeface="+mn-cs"/>
              </a:rPr>
              <a:t>Departamento</a:t>
            </a:r>
            <a:br>
              <a:rPr lang="es-AR" sz="1200" kern="1200" dirty="0">
                <a:solidFill>
                  <a:schemeClr val="tx1"/>
                </a:solidFill>
                <a:latin typeface="+mn-lt"/>
                <a:ea typeface="+mn-ea"/>
                <a:cs typeface="+mn-cs"/>
              </a:rPr>
            </a:br>
            <a:r>
              <a:rPr lang="es-AR" sz="1200" kern="1200" dirty="0" err="1">
                <a:solidFill>
                  <a:schemeClr val="tx1"/>
                </a:solidFill>
                <a:latin typeface="+mn-lt"/>
                <a:ea typeface="+mn-ea"/>
                <a:cs typeface="+mn-cs"/>
              </a:rPr>
              <a:t>NombreDepartamento</a:t>
            </a:r>
            <a:endParaRPr lang="es-AR" sz="1200" kern="1200" dirty="0">
              <a:solidFill>
                <a:schemeClr val="tx1"/>
              </a:solidFill>
              <a:latin typeface="+mn-lt"/>
              <a:ea typeface="+mn-ea"/>
              <a:cs typeface="+mn-cs"/>
            </a:endParaRPr>
          </a:p>
          <a:p>
            <a:r>
              <a:rPr lang="es-AR" dirty="0"/>
              <a:t>Si:</a:t>
            </a:r>
          </a:p>
          <a:p>
            <a:pPr rtl="0"/>
            <a:r>
              <a:rPr lang="es-AR" sz="1200" kern="1200" dirty="0">
                <a:solidFill>
                  <a:schemeClr val="tx1"/>
                </a:solidFill>
                <a:latin typeface="+mn-lt"/>
                <a:ea typeface="+mn-ea"/>
                <a:cs typeface="+mn-cs"/>
              </a:rPr>
              <a:t>Legajo → Departamento</a:t>
            </a:r>
            <a:br>
              <a:rPr lang="es-AR" sz="1200" kern="1200" dirty="0">
                <a:solidFill>
                  <a:schemeClr val="tx1"/>
                </a:solidFill>
                <a:latin typeface="+mn-lt"/>
                <a:ea typeface="+mn-ea"/>
                <a:cs typeface="+mn-cs"/>
              </a:rPr>
            </a:br>
            <a:r>
              <a:rPr lang="es-AR" sz="1200" kern="1200" dirty="0" err="1">
                <a:solidFill>
                  <a:schemeClr val="tx1"/>
                </a:solidFill>
                <a:latin typeface="+mn-lt"/>
                <a:ea typeface="+mn-ea"/>
                <a:cs typeface="+mn-cs"/>
              </a:rPr>
              <a:t>Departamento</a:t>
            </a:r>
            <a:r>
              <a:rPr lang="es-AR" sz="1200" kern="1200" dirty="0">
                <a:solidFill>
                  <a:schemeClr val="tx1"/>
                </a:solidFill>
                <a:latin typeface="+mn-lt"/>
                <a:ea typeface="+mn-ea"/>
                <a:cs typeface="+mn-cs"/>
              </a:rPr>
              <a:t> → </a:t>
            </a:r>
            <a:r>
              <a:rPr lang="es-AR" sz="1200" kern="1200" dirty="0" err="1">
                <a:solidFill>
                  <a:schemeClr val="tx1"/>
                </a:solidFill>
                <a:latin typeface="+mn-lt"/>
                <a:ea typeface="+mn-ea"/>
                <a:cs typeface="+mn-cs"/>
              </a:rPr>
              <a:t>NombreDepartamento</a:t>
            </a:r>
            <a:endParaRPr lang="es-AR" sz="1200" kern="1200" dirty="0">
              <a:solidFill>
                <a:schemeClr val="tx1"/>
              </a:solidFill>
              <a:latin typeface="+mn-lt"/>
              <a:ea typeface="+mn-ea"/>
              <a:cs typeface="+mn-cs"/>
            </a:endParaRPr>
          </a:p>
          <a:p>
            <a:r>
              <a:rPr lang="es-AR" dirty="0"/>
              <a:t>hay una dependencia transitiva y se descompone.</a:t>
            </a:r>
          </a:p>
          <a:p>
            <a:endParaRPr lang="es-AR"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24BF3D91-A5A4-E49A-AB4D-EAF96EFA311E}"/>
              </a:ext>
            </a:extLst>
          </p:cNvPr>
          <p:cNvSpPr>
            <a:spLocks noGrp="1"/>
          </p:cNvSpPr>
          <p:nvPr>
            <p:ph type="sldNum" sz="quarter" idx="5"/>
          </p:nvPr>
        </p:nvSpPr>
        <p:spPr/>
        <p:txBody>
          <a:bodyPr/>
          <a:lstStyle/>
          <a:p>
            <a:fld id="{77D47503-58D1-4052-97E1-C8BE765CAE85}" type="slidenum">
              <a:rPr lang="es-AR" smtClean="0"/>
              <a:t>10</a:t>
            </a:fld>
            <a:endParaRPr lang="es-AR"/>
          </a:p>
        </p:txBody>
      </p:sp>
    </p:spTree>
    <p:extLst>
      <p:ext uri="{BB962C8B-B14F-4D97-AF65-F5344CB8AC3E}">
        <p14:creationId xmlns:p14="http://schemas.microsoft.com/office/powerpoint/2010/main" val="1302511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FCFDB5-D59C-EFE2-B4FA-99399A0CE1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1F091405-EF51-4FD9-2CD4-8B71B1C2AFE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0596029C-86BA-CE9B-222A-B595F9F0DEBD}"/>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5" name="Marcador de pie de página 4">
            <a:extLst>
              <a:ext uri="{FF2B5EF4-FFF2-40B4-BE49-F238E27FC236}">
                <a16:creationId xmlns:a16="http://schemas.microsoft.com/office/drawing/2014/main" id="{4145FA85-5CD4-D133-1144-452E281BBC90}"/>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F1D80355-3A7A-BBC4-BF3A-FB8BDFCE62DF}"/>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2589271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2F71D-FA13-9C20-9C29-917426B692E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AADC36D-A9E2-8D5A-F49F-562405B3A90A}"/>
              </a:ext>
            </a:extLst>
          </p:cNvPr>
          <p:cNvSpPr>
            <a:spLocks noGrp="1"/>
          </p:cNvSpPr>
          <p:nvPr>
            <p:ph idx="1"/>
          </p:nvPr>
        </p:nvSpPr>
        <p:spPr>
          <a:xfrm>
            <a:off x="838200" y="1825625"/>
            <a:ext cx="10515600" cy="4351338"/>
          </a:xfrm>
          <a:prstGeom prst="rect">
            <a:avLst/>
          </a:prstGeo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AR" dirty="0"/>
          </a:p>
        </p:txBody>
      </p:sp>
      <p:sp>
        <p:nvSpPr>
          <p:cNvPr id="4" name="Marcador de fecha 3">
            <a:extLst>
              <a:ext uri="{FF2B5EF4-FFF2-40B4-BE49-F238E27FC236}">
                <a16:creationId xmlns:a16="http://schemas.microsoft.com/office/drawing/2014/main" id="{5E7D527A-D214-6A80-77AA-F2E2FDCFBE04}"/>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5" name="Marcador de pie de página 4">
            <a:extLst>
              <a:ext uri="{FF2B5EF4-FFF2-40B4-BE49-F238E27FC236}">
                <a16:creationId xmlns:a16="http://schemas.microsoft.com/office/drawing/2014/main" id="{72DD2812-533D-EF92-5258-91F1FD49EEB8}"/>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8E44F0FD-8A14-809D-96F4-018F81E63D4E}"/>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115492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D3EFBE-571B-D8CC-DBC8-8DA47C8BFDFA}"/>
              </a:ext>
            </a:extLst>
          </p:cNvPr>
          <p:cNvSpPr>
            <a:spLocks noGrp="1"/>
          </p:cNvSpPr>
          <p:nvPr>
            <p:ph type="title"/>
          </p:nvPr>
        </p:nvSpPr>
        <p:spPr>
          <a:xfrm>
            <a:off x="831850" y="1709738"/>
            <a:ext cx="10515600" cy="2852737"/>
          </a:xfrm>
        </p:spPr>
        <p:txBody>
          <a:bodyPr anchor="b"/>
          <a:lstStyle>
            <a:lvl1pPr>
              <a:defRPr sz="6000"/>
            </a:lvl1pPr>
          </a:lstStyle>
          <a:p>
            <a:r>
              <a:rPr lang="es-ES" dirty="0"/>
              <a:t>Haga clic para modificar el estilo de título del patrón</a:t>
            </a:r>
            <a:endParaRPr lang="es-AR" dirty="0"/>
          </a:p>
        </p:txBody>
      </p:sp>
      <p:sp>
        <p:nvSpPr>
          <p:cNvPr id="3" name="Marcador de texto 2">
            <a:extLst>
              <a:ext uri="{FF2B5EF4-FFF2-40B4-BE49-F238E27FC236}">
                <a16:creationId xmlns:a16="http://schemas.microsoft.com/office/drawing/2014/main" id="{DB75A336-EF69-F8B7-B18C-5B09AFD23B7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dirty="0"/>
              <a:t>Haga clic para modificar los estilos de texto del patrón</a:t>
            </a:r>
          </a:p>
        </p:txBody>
      </p:sp>
      <p:sp>
        <p:nvSpPr>
          <p:cNvPr id="4" name="Marcador de fecha 3">
            <a:extLst>
              <a:ext uri="{FF2B5EF4-FFF2-40B4-BE49-F238E27FC236}">
                <a16:creationId xmlns:a16="http://schemas.microsoft.com/office/drawing/2014/main" id="{87B7F965-0BF6-3907-A92A-49BEC3DDBE7F}"/>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5" name="Marcador de pie de página 4">
            <a:extLst>
              <a:ext uri="{FF2B5EF4-FFF2-40B4-BE49-F238E27FC236}">
                <a16:creationId xmlns:a16="http://schemas.microsoft.com/office/drawing/2014/main" id="{A9CFD7E3-FBCB-782D-225B-1B5CA3C8A600}"/>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E32D7919-0165-4039-DEE9-AE3BA345D095}"/>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239571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3DA47D-B3C7-E5F4-384B-4513EC2D188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99AE67C4-D9FE-03C9-C264-D11313DAD2EB}"/>
              </a:ext>
            </a:extLst>
          </p:cNvPr>
          <p:cNvSpPr>
            <a:spLocks noGrp="1"/>
          </p:cNvSpPr>
          <p:nvPr>
            <p:ph sz="half" idx="1"/>
          </p:nvPr>
        </p:nvSpPr>
        <p:spPr>
          <a:xfrm>
            <a:off x="838200" y="1825625"/>
            <a:ext cx="5181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F06DCB60-3339-EF4F-904F-294DE2399DEE}"/>
              </a:ext>
            </a:extLst>
          </p:cNvPr>
          <p:cNvSpPr>
            <a:spLocks noGrp="1"/>
          </p:cNvSpPr>
          <p:nvPr>
            <p:ph sz="half" idx="2"/>
          </p:nvPr>
        </p:nvSpPr>
        <p:spPr>
          <a:xfrm>
            <a:off x="6172200" y="1825625"/>
            <a:ext cx="5181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F72A0CCC-2986-8514-B24B-1E730E403961}"/>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6" name="Marcador de pie de página 5">
            <a:extLst>
              <a:ext uri="{FF2B5EF4-FFF2-40B4-BE49-F238E27FC236}">
                <a16:creationId xmlns:a16="http://schemas.microsoft.com/office/drawing/2014/main" id="{90A2DE32-AFBD-6FB3-A3B1-DE3EAEBF4379}"/>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7" name="Marcador de número de diapositiva 6">
            <a:extLst>
              <a:ext uri="{FF2B5EF4-FFF2-40B4-BE49-F238E27FC236}">
                <a16:creationId xmlns:a16="http://schemas.microsoft.com/office/drawing/2014/main" id="{E3202BDB-BE94-57D9-1BBF-7F054B3ADDAD}"/>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3885099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C4DDB-9ECE-54A1-2CD5-8B57D74FE7A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BA42E525-D996-875C-9A89-ACEA379898C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D7DF4D-C8F6-867A-470F-52D43692DC54}"/>
              </a:ext>
            </a:extLst>
          </p:cNvPr>
          <p:cNvSpPr>
            <a:spLocks noGrp="1"/>
          </p:cNvSpPr>
          <p:nvPr>
            <p:ph sz="half" idx="2"/>
          </p:nvPr>
        </p:nvSpPr>
        <p:spPr>
          <a:xfrm>
            <a:off x="839788" y="2505075"/>
            <a:ext cx="5157787" cy="368458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03DDFB50-00A7-5F65-0DBE-B3F2C941B8F6}"/>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9E788FB-C9C8-AD77-BED0-8FC5BCA03A43}"/>
              </a:ext>
            </a:extLst>
          </p:cNvPr>
          <p:cNvSpPr>
            <a:spLocks noGrp="1"/>
          </p:cNvSpPr>
          <p:nvPr>
            <p:ph sz="quarter" idx="4"/>
          </p:nvPr>
        </p:nvSpPr>
        <p:spPr>
          <a:xfrm>
            <a:off x="6172200" y="2505075"/>
            <a:ext cx="5183188" cy="368458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F80EE37B-95B4-87B9-D448-37478F58A202}"/>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8" name="Marcador de pie de página 7">
            <a:extLst>
              <a:ext uri="{FF2B5EF4-FFF2-40B4-BE49-F238E27FC236}">
                <a16:creationId xmlns:a16="http://schemas.microsoft.com/office/drawing/2014/main" id="{7215ED50-8F86-DBC7-7EFE-C4B67441F7C7}"/>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9" name="Marcador de número de diapositiva 8">
            <a:extLst>
              <a:ext uri="{FF2B5EF4-FFF2-40B4-BE49-F238E27FC236}">
                <a16:creationId xmlns:a16="http://schemas.microsoft.com/office/drawing/2014/main" id="{94BE3478-0B61-9CF7-49EC-A69236CF753B}"/>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3765060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145695-132D-E535-0637-F0A35239EB9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1203C559-649E-BEBD-301E-AA9BD38A2E04}"/>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4" name="Marcador de pie de página 3">
            <a:extLst>
              <a:ext uri="{FF2B5EF4-FFF2-40B4-BE49-F238E27FC236}">
                <a16:creationId xmlns:a16="http://schemas.microsoft.com/office/drawing/2014/main" id="{E1A46862-E924-5B06-B335-86A811FAC6B7}"/>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5" name="Marcador de número de diapositiva 4">
            <a:extLst>
              <a:ext uri="{FF2B5EF4-FFF2-40B4-BE49-F238E27FC236}">
                <a16:creationId xmlns:a16="http://schemas.microsoft.com/office/drawing/2014/main" id="{A6747C32-136A-5BAB-562D-C733191F143B}"/>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2509681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D87BD9A-08FE-1AC8-DC45-7F2D3DA912BD}"/>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3" name="Marcador de pie de página 2">
            <a:extLst>
              <a:ext uri="{FF2B5EF4-FFF2-40B4-BE49-F238E27FC236}">
                <a16:creationId xmlns:a16="http://schemas.microsoft.com/office/drawing/2014/main" id="{4109EF09-C895-791F-77DD-B7441577C46A}"/>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4" name="Marcador de número de diapositiva 3">
            <a:extLst>
              <a:ext uri="{FF2B5EF4-FFF2-40B4-BE49-F238E27FC236}">
                <a16:creationId xmlns:a16="http://schemas.microsoft.com/office/drawing/2014/main" id="{8938D325-7FA0-971F-B95A-62BA24D625F7}"/>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2987619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FF0788-1EE8-A856-22F6-43AFD7C3CB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DD534B7-5FD2-EF63-F307-A566F6D7A2ED}"/>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6F43C5B9-2515-F81C-5504-78F2745CC2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BA2AA42-6588-AD73-BDFE-436678736A64}"/>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6" name="Marcador de pie de página 5">
            <a:extLst>
              <a:ext uri="{FF2B5EF4-FFF2-40B4-BE49-F238E27FC236}">
                <a16:creationId xmlns:a16="http://schemas.microsoft.com/office/drawing/2014/main" id="{E08D81DD-8FE6-0003-842D-9DEF5914C8BC}"/>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7" name="Marcador de número de diapositiva 6">
            <a:extLst>
              <a:ext uri="{FF2B5EF4-FFF2-40B4-BE49-F238E27FC236}">
                <a16:creationId xmlns:a16="http://schemas.microsoft.com/office/drawing/2014/main" id="{E7F60E1A-1675-B888-2EEA-BDBC1EE1D2E1}"/>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139962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692611-E34E-0093-9C93-590E9599A54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14B5DFB9-21A8-92E6-DAA9-5EA333BF3E52}"/>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F5B0F8EC-9DA8-A576-5D57-10DDAFB143E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9A1086F-F6EE-843E-175B-2BF44F816EA3}"/>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6" name="Marcador de pie de página 5">
            <a:extLst>
              <a:ext uri="{FF2B5EF4-FFF2-40B4-BE49-F238E27FC236}">
                <a16:creationId xmlns:a16="http://schemas.microsoft.com/office/drawing/2014/main" id="{0B1D0A84-CBD6-A384-E722-E7DB949E7257}"/>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7" name="Marcador de número de diapositiva 6">
            <a:extLst>
              <a:ext uri="{FF2B5EF4-FFF2-40B4-BE49-F238E27FC236}">
                <a16:creationId xmlns:a16="http://schemas.microsoft.com/office/drawing/2014/main" id="{7C39FA62-7D76-F94A-E36B-8ACFA6405258}"/>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1879069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42A4B5-F12A-632F-0190-6885E30D337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C5DFB814-E3D4-7A45-C401-FE4CC2D7E640}"/>
              </a:ext>
            </a:extLst>
          </p:cNvPr>
          <p:cNvSpPr>
            <a:spLocks noGrp="1"/>
          </p:cNvSpPr>
          <p:nvPr>
            <p:ph type="body" orient="vert" idx="1"/>
          </p:nvPr>
        </p:nvSpPr>
        <p:spPr>
          <a:xfrm>
            <a:off x="838200" y="1825625"/>
            <a:ext cx="10515600" cy="43513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A9CB953-9C91-E64B-A3EB-035C39F5AB1F}"/>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5" name="Marcador de pie de página 4">
            <a:extLst>
              <a:ext uri="{FF2B5EF4-FFF2-40B4-BE49-F238E27FC236}">
                <a16:creationId xmlns:a16="http://schemas.microsoft.com/office/drawing/2014/main" id="{5E065F91-1A4F-400A-DCCC-0E36E07C9AC4}"/>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26AD19F4-16B6-F71F-C3DE-D755BCA519B8}"/>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3387847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5EE4C46-B81F-53C9-65FE-8868A9B43FF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49152F0-9720-2EC9-E7F5-D3A492501AD2}"/>
              </a:ext>
            </a:extLst>
          </p:cNvPr>
          <p:cNvSpPr>
            <a:spLocks noGrp="1"/>
          </p:cNvSpPr>
          <p:nvPr>
            <p:ph type="body" orient="vert" idx="1"/>
          </p:nvPr>
        </p:nvSpPr>
        <p:spPr>
          <a:xfrm>
            <a:off x="838200" y="365125"/>
            <a:ext cx="7734300" cy="58118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525E1C16-687A-A616-C5B4-0C33952E8A62}"/>
              </a:ext>
            </a:extLst>
          </p:cNvPr>
          <p:cNvSpPr>
            <a:spLocks noGrp="1"/>
          </p:cNvSpPr>
          <p:nvPr>
            <p:ph type="dt" sz="half" idx="10"/>
          </p:nvPr>
        </p:nvSpPr>
        <p:spPr>
          <a:xfrm>
            <a:off x="838200" y="6356350"/>
            <a:ext cx="2743200" cy="365125"/>
          </a:xfrm>
          <a:prstGeom prst="rect">
            <a:avLst/>
          </a:prstGeom>
        </p:spPr>
        <p:txBody>
          <a:bodyPr/>
          <a:lstStyle/>
          <a:p>
            <a:fld id="{38F335D8-5379-47E2-BE3D-43AE58958FFA}" type="datetimeFigureOut">
              <a:rPr lang="es-AR" smtClean="0"/>
              <a:t>22/6/2026</a:t>
            </a:fld>
            <a:endParaRPr lang="es-AR"/>
          </a:p>
        </p:txBody>
      </p:sp>
      <p:sp>
        <p:nvSpPr>
          <p:cNvPr id="5" name="Marcador de pie de página 4">
            <a:extLst>
              <a:ext uri="{FF2B5EF4-FFF2-40B4-BE49-F238E27FC236}">
                <a16:creationId xmlns:a16="http://schemas.microsoft.com/office/drawing/2014/main" id="{3369F475-D1CD-D7E3-1909-21C506E1867B}"/>
              </a:ext>
            </a:extLst>
          </p:cNvPr>
          <p:cNvSpPr>
            <a:spLocks noGrp="1"/>
          </p:cNvSpPr>
          <p:nvPr>
            <p:ph type="ftr" sz="quarter" idx="11"/>
          </p:nvPr>
        </p:nvSpPr>
        <p:spPr>
          <a:xfrm>
            <a:off x="4038600" y="6356350"/>
            <a:ext cx="4114800" cy="365125"/>
          </a:xfrm>
          <a:prstGeom prst="rect">
            <a:avLst/>
          </a:prstGeom>
        </p:spPr>
        <p:txBody>
          <a:bodyPr/>
          <a:lstStyle/>
          <a:p>
            <a:endParaRPr lang="es-AR"/>
          </a:p>
        </p:txBody>
      </p:sp>
      <p:sp>
        <p:nvSpPr>
          <p:cNvPr id="6" name="Marcador de número de diapositiva 5">
            <a:extLst>
              <a:ext uri="{FF2B5EF4-FFF2-40B4-BE49-F238E27FC236}">
                <a16:creationId xmlns:a16="http://schemas.microsoft.com/office/drawing/2014/main" id="{2899534B-1B6A-FF7E-AE72-FA282B092716}"/>
              </a:ext>
            </a:extLst>
          </p:cNvPr>
          <p:cNvSpPr>
            <a:spLocks noGrp="1"/>
          </p:cNvSpPr>
          <p:nvPr>
            <p:ph type="sldNum" sz="quarter" idx="12"/>
          </p:nvPr>
        </p:nvSpPr>
        <p:spPr>
          <a:xfrm>
            <a:off x="8610600" y="6356350"/>
            <a:ext cx="2743200" cy="365125"/>
          </a:xfrm>
          <a:prstGeom prst="rect">
            <a:avLst/>
          </a:prstGeom>
        </p:spPr>
        <p:txBody>
          <a:bodyPr/>
          <a:lstStyle/>
          <a:p>
            <a:fld id="{C0356EEC-FE99-4119-BAB1-E38D08560ADE}" type="slidenum">
              <a:rPr lang="es-AR" smtClean="0"/>
              <a:t>‹Nº›</a:t>
            </a:fld>
            <a:endParaRPr lang="es-AR"/>
          </a:p>
        </p:txBody>
      </p:sp>
    </p:spTree>
    <p:extLst>
      <p:ext uri="{BB962C8B-B14F-4D97-AF65-F5344CB8AC3E}">
        <p14:creationId xmlns:p14="http://schemas.microsoft.com/office/powerpoint/2010/main" val="3781078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CD073B-1288-E6EE-5488-5849D7DF93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B42DAD7E-85E7-6943-5451-FB0BA9F83A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052F32FE-E036-5CEA-7393-7A31A046CC72}"/>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5" name="Marcador de pie de página 4">
            <a:extLst>
              <a:ext uri="{FF2B5EF4-FFF2-40B4-BE49-F238E27FC236}">
                <a16:creationId xmlns:a16="http://schemas.microsoft.com/office/drawing/2014/main" id="{608F3A66-393B-AA80-4C0A-EA931A1C7E8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9D4DDB6-4527-85C4-E29D-C868CD4B8776}"/>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4028434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6D285-7703-6E1A-3B4E-29C97F8FA64B}"/>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0417EEDD-8889-CACF-2C3C-EE47387D2DA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665991A1-A66E-8AA9-E0AF-3C5818E0B12E}"/>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5" name="Marcador de pie de página 4">
            <a:extLst>
              <a:ext uri="{FF2B5EF4-FFF2-40B4-BE49-F238E27FC236}">
                <a16:creationId xmlns:a16="http://schemas.microsoft.com/office/drawing/2014/main" id="{D0D8C67D-A899-0C94-88BC-280DEDDDA18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04FCF73F-003C-E3CD-DCA4-7EEFE1018278}"/>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85523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B64A8E-7F3B-A4C1-E59F-C701134270B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B12DE5D9-164F-C15A-E403-C0CC49E825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4E124AC-77A9-ADF7-B173-AA5D952679C4}"/>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5" name="Marcador de pie de página 4">
            <a:extLst>
              <a:ext uri="{FF2B5EF4-FFF2-40B4-BE49-F238E27FC236}">
                <a16:creationId xmlns:a16="http://schemas.microsoft.com/office/drawing/2014/main" id="{9AFD74C7-20C1-6D0C-FD20-BE13B737CDE2}"/>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8C6662B-5228-25C4-7184-D6207495E028}"/>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12992140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CB499-10F4-270A-14E2-D41F8778335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45409EF-2498-C54C-DC46-CA530A319EF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F6C90F13-C175-C35C-27D8-87151F99643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2CCD9F90-3AAB-64A8-0F97-064879DEC004}"/>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6" name="Marcador de pie de página 5">
            <a:extLst>
              <a:ext uri="{FF2B5EF4-FFF2-40B4-BE49-F238E27FC236}">
                <a16:creationId xmlns:a16="http://schemas.microsoft.com/office/drawing/2014/main" id="{DAC20DB4-FD43-5753-81DF-CA8347FCBB8D}"/>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D726D6E6-4957-A72E-915A-EAA895156AB7}"/>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41075925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0CD566-5CFB-1AB9-2A9F-81176200121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0BA984D-ABF9-A9C5-927B-0C038D2E26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2FC8B9F-99BB-6FF2-867F-7195F8F8F16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9FC4E8C1-D2E4-C959-0F12-3E4C373700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260BA89-D5D3-4429-9326-2F6962D705C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C47C4337-C48C-0E33-1002-5FD33F80D124}"/>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8" name="Marcador de pie de página 7">
            <a:extLst>
              <a:ext uri="{FF2B5EF4-FFF2-40B4-BE49-F238E27FC236}">
                <a16:creationId xmlns:a16="http://schemas.microsoft.com/office/drawing/2014/main" id="{6C722662-0D70-4344-410D-390140A712C0}"/>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BD05B9B6-73C1-49E3-5096-E64CECB2FFFD}"/>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22977388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005D4A-3908-5616-73C1-D37EB10A880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26EA85FC-CF43-C15F-D643-6E78F6A394A9}"/>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4" name="Marcador de pie de página 3">
            <a:extLst>
              <a:ext uri="{FF2B5EF4-FFF2-40B4-BE49-F238E27FC236}">
                <a16:creationId xmlns:a16="http://schemas.microsoft.com/office/drawing/2014/main" id="{6E36C0CF-CB83-A453-B9CD-5805FA01062A}"/>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85D6609B-AC7C-8D42-DF6F-2D62191ABF23}"/>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37297780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3F92FF9-D9E0-7E5A-4CEE-DBC5FEDEC78D}"/>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3" name="Marcador de pie de página 2">
            <a:extLst>
              <a:ext uri="{FF2B5EF4-FFF2-40B4-BE49-F238E27FC236}">
                <a16:creationId xmlns:a16="http://schemas.microsoft.com/office/drawing/2014/main" id="{46D322F9-61C9-3980-7160-7779D2ACABD1}"/>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D0F2A74D-B091-DCA2-4F81-741B594C0B40}"/>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2587278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47A641-5A40-B387-0185-068EDFF8AB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5D0A4E6A-FCFF-F8F3-9A57-CBB819C3F7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059699D2-0D95-08B3-6B96-53F164353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17C9B29-556D-9CCC-7316-D9028908D76B}"/>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6" name="Marcador de pie de página 5">
            <a:extLst>
              <a:ext uri="{FF2B5EF4-FFF2-40B4-BE49-F238E27FC236}">
                <a16:creationId xmlns:a16="http://schemas.microsoft.com/office/drawing/2014/main" id="{6C0DBD4B-423A-FA2C-EBB1-6410B3355A9A}"/>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64320F8F-A749-7CAC-84E7-D37DC3251280}"/>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10140978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C95769-D55E-932C-F394-049F0735AD8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6B74232B-A70F-FCE7-9543-707989B430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37D19C8D-440C-9203-2562-026B5389B7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CC10FD0-A885-DC2A-6C4B-34E4C67C05E2}"/>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6" name="Marcador de pie de página 5">
            <a:extLst>
              <a:ext uri="{FF2B5EF4-FFF2-40B4-BE49-F238E27FC236}">
                <a16:creationId xmlns:a16="http://schemas.microsoft.com/office/drawing/2014/main" id="{03CFAB1E-D51A-545A-A75F-A15E6EE9E6AB}"/>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C5C723D0-FAD6-D0C0-DDED-3AB87DBF12DD}"/>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41166908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1947F0-4C9B-D5ED-36B1-5A1EBEF2B9D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D7F00478-5AE2-47D2-5A62-74FD626FE10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E19C8ECA-BEF7-B257-0A11-3906B9DF740D}"/>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5" name="Marcador de pie de página 4">
            <a:extLst>
              <a:ext uri="{FF2B5EF4-FFF2-40B4-BE49-F238E27FC236}">
                <a16:creationId xmlns:a16="http://schemas.microsoft.com/office/drawing/2014/main" id="{975A0974-150D-D837-3C78-960DF3AAE939}"/>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F7F7EA4-5A0B-3599-70DC-C6513FBE2CD3}"/>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22034077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2481026-626E-04B3-ED1B-BC9A746B007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5FD781D2-1104-B5D6-CE14-1047190546B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BFBC0A7A-E06B-275B-B4D6-E4609C564698}"/>
              </a:ext>
            </a:extLst>
          </p:cNvPr>
          <p:cNvSpPr>
            <a:spLocks noGrp="1"/>
          </p:cNvSpPr>
          <p:nvPr>
            <p:ph type="dt" sz="half" idx="10"/>
          </p:nvPr>
        </p:nvSpPr>
        <p:spPr/>
        <p:txBody>
          <a:bodyPr/>
          <a:lstStyle/>
          <a:p>
            <a:fld id="{4C159A3B-B521-439E-BB5B-9175466BFE67}" type="datetimeFigureOut">
              <a:rPr lang="es-AR" smtClean="0"/>
              <a:t>22/6/2026</a:t>
            </a:fld>
            <a:endParaRPr lang="es-AR"/>
          </a:p>
        </p:txBody>
      </p:sp>
      <p:sp>
        <p:nvSpPr>
          <p:cNvPr id="5" name="Marcador de pie de página 4">
            <a:extLst>
              <a:ext uri="{FF2B5EF4-FFF2-40B4-BE49-F238E27FC236}">
                <a16:creationId xmlns:a16="http://schemas.microsoft.com/office/drawing/2014/main" id="{B114CF4E-96B8-6486-6850-771BFE432B7C}"/>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9636333-C895-9948-139C-3AE2D851709E}"/>
              </a:ext>
            </a:extLst>
          </p:cNvPr>
          <p:cNvSpPr>
            <a:spLocks noGrp="1"/>
          </p:cNvSpPr>
          <p:nvPr>
            <p:ph type="sldNum" sz="quarter" idx="12"/>
          </p:nvPr>
        </p:nvSpPr>
        <p:spPr/>
        <p:txBody>
          <a:bodyPr/>
          <a:lstStyle/>
          <a:p>
            <a:fld id="{BD0F0720-6732-454C-969E-3E15B32DE5AA}" type="slidenum">
              <a:rPr lang="es-AR" smtClean="0"/>
              <a:t>‹Nº›</a:t>
            </a:fld>
            <a:endParaRPr lang="es-AR"/>
          </a:p>
        </p:txBody>
      </p:sp>
    </p:spTree>
    <p:extLst>
      <p:ext uri="{BB962C8B-B14F-4D97-AF65-F5344CB8AC3E}">
        <p14:creationId xmlns:p14="http://schemas.microsoft.com/office/powerpoint/2010/main" val="153097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3000"/>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1D7048A-18A2-14FA-DD14-7C6411D55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AR" dirty="0"/>
          </a:p>
        </p:txBody>
      </p:sp>
    </p:spTree>
    <p:extLst>
      <p:ext uri="{BB962C8B-B14F-4D97-AF65-F5344CB8AC3E}">
        <p14:creationId xmlns:p14="http://schemas.microsoft.com/office/powerpoint/2010/main" val="2783966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alphaModFix amt="23000"/>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57FDFC2-532D-232D-5BF6-39A06713A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5E9324D8-AED6-45FD-68F4-5D842ED693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062142B5-9431-9624-8CEE-A1B615E3B0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159A3B-B521-439E-BB5B-9175466BFE67}" type="datetimeFigureOut">
              <a:rPr lang="es-AR" smtClean="0"/>
              <a:t>22/6/2026</a:t>
            </a:fld>
            <a:endParaRPr lang="es-AR"/>
          </a:p>
        </p:txBody>
      </p:sp>
      <p:sp>
        <p:nvSpPr>
          <p:cNvPr id="5" name="Marcador de pie de página 4">
            <a:extLst>
              <a:ext uri="{FF2B5EF4-FFF2-40B4-BE49-F238E27FC236}">
                <a16:creationId xmlns:a16="http://schemas.microsoft.com/office/drawing/2014/main" id="{7034C427-3F9A-069A-E6FD-3D8FFDF2FA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5261AC9B-E0BF-776E-7073-4E300466FA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0F0720-6732-454C-969E-3E15B32DE5AA}" type="slidenum">
              <a:rPr lang="es-AR" smtClean="0"/>
              <a:t>‹Nº›</a:t>
            </a:fld>
            <a:endParaRPr lang="es-AR"/>
          </a:p>
        </p:txBody>
      </p:sp>
    </p:spTree>
    <p:extLst>
      <p:ext uri="{BB962C8B-B14F-4D97-AF65-F5344CB8AC3E}">
        <p14:creationId xmlns:p14="http://schemas.microsoft.com/office/powerpoint/2010/main" val="3764219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1218CDAB-44BA-A10B-9462-435219F53375}"/>
              </a:ext>
            </a:extLst>
          </p:cNvPr>
          <p:cNvSpPr>
            <a:spLocks noGrp="1"/>
          </p:cNvSpPr>
          <p:nvPr>
            <p:ph type="ctrTitle"/>
          </p:nvPr>
        </p:nvSpPr>
        <p:spPr>
          <a:xfrm>
            <a:off x="2555631" y="1441938"/>
            <a:ext cx="7080738" cy="3974124"/>
          </a:xfrm>
        </p:spPr>
        <p:txBody>
          <a:bodyPr vert="horz" lIns="91440" tIns="45720" rIns="91440" bIns="45720" rtlCol="0" anchor="ctr">
            <a:normAutofit/>
          </a:bodyPr>
          <a:lstStyle/>
          <a:p>
            <a:r>
              <a:rPr lang="es-ES" sz="5400" dirty="0">
                <a:solidFill>
                  <a:schemeClr val="bg1">
                    <a:lumMod val="95000"/>
                    <a:lumOff val="5000"/>
                  </a:schemeClr>
                </a:solidFill>
              </a:rPr>
              <a:t>Normalización</a:t>
            </a:r>
            <a:endParaRPr lang="en-US" sz="5400" dirty="0">
              <a:solidFill>
                <a:schemeClr val="bg1">
                  <a:lumMod val="95000"/>
                  <a:lumOff val="5000"/>
                </a:schemeClr>
              </a:solidFill>
            </a:endParaRPr>
          </a:p>
        </p:txBody>
      </p:sp>
    </p:spTree>
    <p:extLst>
      <p:ext uri="{BB962C8B-B14F-4D97-AF65-F5344CB8AC3E}">
        <p14:creationId xmlns:p14="http://schemas.microsoft.com/office/powerpoint/2010/main" val="347746128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C0A6236C-72BB-10CC-7CA9-8CB551A50841}"/>
              </a:ext>
            </a:extLst>
          </p:cNvPr>
          <p:cNvSpPr>
            <a:spLocks noGrp="1"/>
          </p:cNvSpPr>
          <p:nvPr>
            <p:ph type="ctrTitle"/>
          </p:nvPr>
        </p:nvSpPr>
        <p:spPr>
          <a:xfrm>
            <a:off x="288178" y="637762"/>
            <a:ext cx="4076185"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2">
            <a:extLst>
              <a:ext uri="{FF2B5EF4-FFF2-40B4-BE49-F238E27FC236}">
                <a16:creationId xmlns:a16="http://schemas.microsoft.com/office/drawing/2014/main" id="{1DF52B42-E9CE-1CF6-878F-95955CCD087A}"/>
              </a:ext>
            </a:extLst>
          </p:cNvPr>
          <p:cNvSpPr>
            <a:spLocks noGrp="1"/>
          </p:cNvSpPr>
          <p:nvPr>
            <p:ph type="subTitle" idx="1"/>
          </p:nvPr>
        </p:nvSpPr>
        <p:spPr>
          <a:xfrm>
            <a:off x="4910807" y="4466230"/>
            <a:ext cx="6993013" cy="2016457"/>
          </a:xfrm>
        </p:spPr>
        <p:txBody>
          <a:bodyPr vert="horz" lIns="91440" tIns="45720" rIns="91440" bIns="45720" rtlCol="0" anchor="ctr">
            <a:normAutofit lnSpcReduction="10000"/>
          </a:bodyPr>
          <a:lstStyle/>
          <a:p>
            <a:pPr algn="just"/>
            <a:r>
              <a:rPr lang="es-ES" sz="1600" dirty="0">
                <a:latin typeface="Consolas" panose="020B0609020204030204" pitchFamily="49" charset="0"/>
              </a:rPr>
              <a:t>Ejemplos:</a:t>
            </a:r>
          </a:p>
          <a:p>
            <a:pPr marL="457200" indent="-457200" algn="just">
              <a:buFont typeface="Arial" panose="020B0604020202020204" pitchFamily="34" charset="0"/>
              <a:buChar char="•"/>
            </a:pPr>
            <a:r>
              <a:rPr lang="es-ES" sz="2800" dirty="0">
                <a:latin typeface="Consolas" panose="020B0609020204030204" pitchFamily="49" charset="0"/>
              </a:rPr>
              <a:t>A es el DETERMINANTE: El que manda (</a:t>
            </a:r>
            <a:r>
              <a:rPr lang="es-ES" sz="2800" dirty="0" err="1">
                <a:latin typeface="Consolas" panose="020B0609020204030204" pitchFamily="49" charset="0"/>
              </a:rPr>
              <a:t>ej</a:t>
            </a:r>
            <a:r>
              <a:rPr lang="es-ES" sz="2800" dirty="0">
                <a:latin typeface="Consolas" panose="020B0609020204030204" pitchFamily="49" charset="0"/>
              </a:rPr>
              <a:t>: un DNI).</a:t>
            </a:r>
          </a:p>
          <a:p>
            <a:pPr marL="457200" indent="-457200" algn="just">
              <a:buFont typeface="Arial" panose="020B0604020202020204" pitchFamily="34" charset="0"/>
              <a:buChar char="•"/>
            </a:pPr>
            <a:r>
              <a:rPr lang="es-ES" sz="2800" dirty="0">
                <a:latin typeface="Consolas" panose="020B0609020204030204" pitchFamily="49" charset="0"/>
              </a:rPr>
              <a:t>B es el DEPENDIENTE: El que obedece (</a:t>
            </a:r>
            <a:r>
              <a:rPr lang="es-ES" sz="2800" dirty="0" err="1">
                <a:latin typeface="Consolas" panose="020B0609020204030204" pitchFamily="49" charset="0"/>
              </a:rPr>
              <a:t>ej</a:t>
            </a:r>
            <a:r>
              <a:rPr lang="es-ES" sz="2800" dirty="0">
                <a:latin typeface="Consolas" panose="020B0609020204030204" pitchFamily="49" charset="0"/>
              </a:rPr>
              <a:t>: un Nombre).</a:t>
            </a:r>
            <a:endParaRPr lang="es-AR" sz="2800" dirty="0">
              <a:latin typeface="Consolas" panose="020B0609020204030204" pitchFamily="49" charset="0"/>
            </a:endParaRPr>
          </a:p>
        </p:txBody>
      </p:sp>
      <p:sp>
        <p:nvSpPr>
          <p:cNvPr id="2" name="Marcador de contenido 2">
            <a:extLst>
              <a:ext uri="{FF2B5EF4-FFF2-40B4-BE49-F238E27FC236}">
                <a16:creationId xmlns:a16="http://schemas.microsoft.com/office/drawing/2014/main" id="{4226B537-97BA-02E7-F6B6-B715516BFF0C}"/>
              </a:ext>
            </a:extLst>
          </p:cNvPr>
          <p:cNvSpPr txBox="1">
            <a:spLocks/>
          </p:cNvSpPr>
          <p:nvPr/>
        </p:nvSpPr>
        <p:spPr>
          <a:xfrm>
            <a:off x="4910806" y="2589762"/>
            <a:ext cx="6993013" cy="110749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ES" sz="1600" dirty="0">
                <a:latin typeface="Consolas" panose="020B0609020204030204" pitchFamily="49" charset="0"/>
              </a:rPr>
              <a:t>Notación:</a:t>
            </a:r>
          </a:p>
          <a:p>
            <a:r>
              <a:rPr lang="es-ES" sz="4000" dirty="0">
                <a:latin typeface="Consolas" panose="020B0609020204030204" pitchFamily="49" charset="0"/>
              </a:rPr>
              <a:t>A → B (A determina a B)</a:t>
            </a:r>
            <a:endParaRPr lang="es-ES" sz="2800" dirty="0">
              <a:latin typeface="Consolas" panose="020B0609020204030204" pitchFamily="49" charset="0"/>
            </a:endParaRPr>
          </a:p>
        </p:txBody>
      </p:sp>
      <p:sp>
        <p:nvSpPr>
          <p:cNvPr id="4" name="Marcador de contenido 2">
            <a:extLst>
              <a:ext uri="{FF2B5EF4-FFF2-40B4-BE49-F238E27FC236}">
                <a16:creationId xmlns:a16="http://schemas.microsoft.com/office/drawing/2014/main" id="{DA3C29E9-D5F9-4749-2B6E-AF03885ED8C2}"/>
              </a:ext>
            </a:extLst>
          </p:cNvPr>
          <p:cNvSpPr txBox="1">
            <a:spLocks/>
          </p:cNvSpPr>
          <p:nvPr/>
        </p:nvSpPr>
        <p:spPr>
          <a:xfrm>
            <a:off x="4910808" y="637762"/>
            <a:ext cx="6993013" cy="1314238"/>
          </a:xfrm>
          <a:prstGeom prst="rect">
            <a:avLst/>
          </a:prstGeom>
        </p:spPr>
        <p:txBody>
          <a:bodyPr vert="horz" lIns="91440" tIns="45720" rIns="91440" bIns="45720" rtlCol="0" anchor="ctr">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1900" dirty="0">
                <a:latin typeface="Consolas" panose="020B0609020204030204" pitchFamily="49" charset="0"/>
              </a:rPr>
              <a:t>La teoría dice:</a:t>
            </a:r>
          </a:p>
          <a:p>
            <a:pPr algn="l"/>
            <a:r>
              <a:rPr lang="es-AR" sz="3000" b="1" i="1" dirty="0">
                <a:latin typeface="Consolas" panose="020B0609020204030204" pitchFamily="49" charset="0"/>
              </a:rPr>
              <a:t>Existe una dependencia funcional si todo atributo B depende funcionalmente de un atributo A.</a:t>
            </a:r>
            <a:endParaRPr lang="es-ES" sz="3000" b="1" i="1" dirty="0">
              <a:latin typeface="Consolas" panose="020B0609020204030204" pitchFamily="49" charset="0"/>
            </a:endParaRPr>
          </a:p>
        </p:txBody>
      </p:sp>
    </p:spTree>
    <p:extLst>
      <p:ext uri="{BB962C8B-B14F-4D97-AF65-F5344CB8AC3E}">
        <p14:creationId xmlns:p14="http://schemas.microsoft.com/office/powerpoint/2010/main" val="262078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BC230-E28F-95E9-0C37-72A1F5886E39}"/>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306D8CB-65E8-050C-B5C7-3B738CC97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FCDD6BA0-2E07-F190-2CB8-D1E9E03BEEFD}"/>
              </a:ext>
            </a:extLst>
          </p:cNvPr>
          <p:cNvSpPr>
            <a:spLocks noGrp="1"/>
          </p:cNvSpPr>
          <p:nvPr>
            <p:ph type="ctrTitle"/>
          </p:nvPr>
        </p:nvSpPr>
        <p:spPr>
          <a:xfrm>
            <a:off x="288178" y="637762"/>
            <a:ext cx="4076185"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 de Claves Candidatas Compuestas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A8F83174-A2B0-1523-1627-E89FF56F9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2">
            <a:extLst>
              <a:ext uri="{FF2B5EF4-FFF2-40B4-BE49-F238E27FC236}">
                <a16:creationId xmlns:a16="http://schemas.microsoft.com/office/drawing/2014/main" id="{424F58B0-AAA9-45D9-C470-F8FEC61C1602}"/>
              </a:ext>
            </a:extLst>
          </p:cNvPr>
          <p:cNvSpPr>
            <a:spLocks noGrp="1"/>
          </p:cNvSpPr>
          <p:nvPr>
            <p:ph type="subTitle" idx="1"/>
          </p:nvPr>
        </p:nvSpPr>
        <p:spPr>
          <a:xfrm>
            <a:off x="4910807" y="4466230"/>
            <a:ext cx="6993013" cy="2016457"/>
          </a:xfrm>
        </p:spPr>
        <p:txBody>
          <a:bodyPr vert="horz" lIns="91440" tIns="45720" rIns="91440" bIns="45720" rtlCol="0" anchor="ctr">
            <a:normAutofit lnSpcReduction="10000"/>
          </a:bodyPr>
          <a:lstStyle/>
          <a:p>
            <a:pPr algn="just"/>
            <a:r>
              <a:rPr lang="es-ES" sz="1700" dirty="0">
                <a:latin typeface="Consolas" panose="020B0609020204030204" pitchFamily="49" charset="0"/>
              </a:rPr>
              <a:t>Como pensarlo:</a:t>
            </a:r>
          </a:p>
          <a:p>
            <a:pPr algn="just"/>
            <a:r>
              <a:rPr lang="es-ES" sz="2800" dirty="0">
                <a:latin typeface="Consolas" panose="020B0609020204030204" pitchFamily="49" charset="0"/>
              </a:rPr>
              <a:t>(A, B) → C: Si necesito A y B para saber C =&gt; OK.</a:t>
            </a:r>
          </a:p>
          <a:p>
            <a:pPr algn="just"/>
            <a:r>
              <a:rPr lang="es-ES" sz="2800" dirty="0">
                <a:latin typeface="Consolas" panose="020B0609020204030204" pitchFamily="49" charset="0"/>
              </a:rPr>
              <a:t>(A, B) → C: Si solo con A o con B ya sé C =&gt; Dependencia Parcial.</a:t>
            </a:r>
            <a:endParaRPr lang="es-AR" sz="2800" dirty="0">
              <a:latin typeface="Consolas" panose="020B0609020204030204" pitchFamily="49" charset="0"/>
            </a:endParaRPr>
          </a:p>
        </p:txBody>
      </p:sp>
      <p:sp>
        <p:nvSpPr>
          <p:cNvPr id="2" name="Marcador de contenido 2">
            <a:extLst>
              <a:ext uri="{FF2B5EF4-FFF2-40B4-BE49-F238E27FC236}">
                <a16:creationId xmlns:a16="http://schemas.microsoft.com/office/drawing/2014/main" id="{DC4107B6-4417-A599-75C6-E79B9F436806}"/>
              </a:ext>
            </a:extLst>
          </p:cNvPr>
          <p:cNvSpPr txBox="1">
            <a:spLocks/>
          </p:cNvSpPr>
          <p:nvPr/>
        </p:nvSpPr>
        <p:spPr>
          <a:xfrm>
            <a:off x="4910806" y="2589762"/>
            <a:ext cx="6993013" cy="1107495"/>
          </a:xfrm>
          <a:prstGeom prst="rect">
            <a:avLst/>
          </a:prstGeom>
        </p:spPr>
        <p:txBody>
          <a:bodyPr vert="horz" lIns="91440" tIns="45720" rIns="91440" bIns="45720" rtlCol="0" anchor="ctr">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ES" sz="2100" dirty="0">
                <a:latin typeface="Consolas" panose="020B0609020204030204" pitchFamily="49" charset="0"/>
              </a:rPr>
              <a:t>Notación:</a:t>
            </a:r>
          </a:p>
          <a:p>
            <a:r>
              <a:rPr lang="es-ES" sz="4000" dirty="0">
                <a:latin typeface="Consolas" panose="020B0609020204030204" pitchFamily="49" charset="0"/>
              </a:rPr>
              <a:t>A, B → C (A y B determinan a C)</a:t>
            </a:r>
            <a:endParaRPr lang="es-ES" sz="2800" dirty="0">
              <a:latin typeface="Consolas" panose="020B0609020204030204" pitchFamily="49" charset="0"/>
            </a:endParaRPr>
          </a:p>
        </p:txBody>
      </p:sp>
      <p:sp>
        <p:nvSpPr>
          <p:cNvPr id="4" name="Marcador de contenido 2">
            <a:extLst>
              <a:ext uri="{FF2B5EF4-FFF2-40B4-BE49-F238E27FC236}">
                <a16:creationId xmlns:a16="http://schemas.microsoft.com/office/drawing/2014/main" id="{99003AC0-24A4-CEB4-E4A5-CCA5F26B215C}"/>
              </a:ext>
            </a:extLst>
          </p:cNvPr>
          <p:cNvSpPr txBox="1">
            <a:spLocks/>
          </p:cNvSpPr>
          <p:nvPr/>
        </p:nvSpPr>
        <p:spPr>
          <a:xfrm>
            <a:off x="4910806" y="371630"/>
            <a:ext cx="6993013" cy="2016728"/>
          </a:xfrm>
          <a:prstGeom prst="rect">
            <a:avLst/>
          </a:prstGeom>
        </p:spPr>
        <p:txBody>
          <a:bodyPr vert="horz" lIns="91440" tIns="45720" rIns="91440" bIns="45720" rtlCol="0" anchor="ctr">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2600" dirty="0">
                <a:latin typeface="Consolas" panose="020B0609020204030204" pitchFamily="49" charset="0"/>
              </a:rPr>
              <a:t>Qué?</a:t>
            </a:r>
          </a:p>
          <a:p>
            <a:pPr algn="l"/>
            <a:r>
              <a:rPr lang="es-ES" sz="3800" b="1" i="1" dirty="0">
                <a:latin typeface="Consolas" panose="020B0609020204030204" pitchFamily="49" charset="0"/>
              </a:rPr>
              <a:t>Un atributo tiene dependencia funcional total si necesita de TODOS los componentes de la clave para ser determinado. Si se quita un pedazo de la clave, el atributo ya no se puede identificar.</a:t>
            </a:r>
          </a:p>
        </p:txBody>
      </p:sp>
    </p:spTree>
    <p:extLst>
      <p:ext uri="{BB962C8B-B14F-4D97-AF65-F5344CB8AC3E}">
        <p14:creationId xmlns:p14="http://schemas.microsoft.com/office/powerpoint/2010/main" val="343632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DC114D-55C5-E7CB-FD0D-DEDFA8942CEC}"/>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C6A0C4F-7258-C225-6077-7F7DADA5D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A8DF47DD-41FE-6D14-1F05-E329F9413887}"/>
              </a:ext>
            </a:extLst>
          </p:cNvPr>
          <p:cNvSpPr>
            <a:spLocks noGrp="1"/>
          </p:cNvSpPr>
          <p:nvPr>
            <p:ph type="ctrTitle"/>
          </p:nvPr>
        </p:nvSpPr>
        <p:spPr>
          <a:xfrm>
            <a:off x="288178" y="637762"/>
            <a:ext cx="4076185"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 de Claves Candidatas Compuestas</a:t>
            </a:r>
            <a:br>
              <a:rPr lang="es-ES" sz="4400" dirty="0">
                <a:solidFill>
                  <a:schemeClr val="bg1"/>
                </a:solidFill>
                <a:latin typeface="Consolas" panose="020B0609020204030204" pitchFamily="49" charset="0"/>
              </a:rPr>
            </a:br>
            <a:r>
              <a:rPr lang="es-ES" sz="1800" dirty="0">
                <a:solidFill>
                  <a:schemeClr val="bg1"/>
                </a:solidFill>
                <a:latin typeface="Consolas" panose="020B0609020204030204" pitchFamily="49" charset="0"/>
              </a:rPr>
              <a:t>y 2da Forma Normal</a:t>
            </a:r>
            <a:endParaRPr lang="en-US" sz="18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12CDE266-B61E-F559-A428-2FBEDED7B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2">
            <a:extLst>
              <a:ext uri="{FF2B5EF4-FFF2-40B4-BE49-F238E27FC236}">
                <a16:creationId xmlns:a16="http://schemas.microsoft.com/office/drawing/2014/main" id="{ABDD30BC-F273-AC72-8441-A386E3F8BF5D}"/>
              </a:ext>
            </a:extLst>
          </p:cNvPr>
          <p:cNvSpPr>
            <a:spLocks noGrp="1"/>
          </p:cNvSpPr>
          <p:nvPr>
            <p:ph type="subTitle" idx="1"/>
          </p:nvPr>
        </p:nvSpPr>
        <p:spPr>
          <a:xfrm>
            <a:off x="4910807" y="5041006"/>
            <a:ext cx="6993013" cy="1648240"/>
          </a:xfrm>
        </p:spPr>
        <p:txBody>
          <a:bodyPr vert="horz" lIns="91440" tIns="45720" rIns="91440" bIns="45720" rtlCol="0" anchor="ctr">
            <a:normAutofit/>
          </a:bodyPr>
          <a:lstStyle/>
          <a:p>
            <a:pPr algn="just"/>
            <a:r>
              <a:rPr lang="es-ES" sz="1700" dirty="0">
                <a:latin typeface="Consolas" panose="020B0609020204030204" pitchFamily="49" charset="0"/>
              </a:rPr>
              <a:t>La 2da Forma Normal dice:</a:t>
            </a:r>
          </a:p>
          <a:p>
            <a:pPr algn="just"/>
            <a:r>
              <a:rPr lang="es-ES" sz="2600" dirty="0">
                <a:latin typeface="Consolas" panose="020B0609020204030204" pitchFamily="49" charset="0"/>
              </a:rPr>
              <a:t>"Ningún atributo que no sea parte de la clave puede depender de solo una parte de la clave".</a:t>
            </a:r>
            <a:endParaRPr lang="es-AR" sz="2600" dirty="0">
              <a:latin typeface="Consolas" panose="020B0609020204030204" pitchFamily="49" charset="0"/>
            </a:endParaRPr>
          </a:p>
        </p:txBody>
      </p:sp>
      <p:sp>
        <p:nvSpPr>
          <p:cNvPr id="2" name="Marcador de contenido 2">
            <a:extLst>
              <a:ext uri="{FF2B5EF4-FFF2-40B4-BE49-F238E27FC236}">
                <a16:creationId xmlns:a16="http://schemas.microsoft.com/office/drawing/2014/main" id="{F9CB6FE9-AA64-A3FF-A95A-5BF5923C67CC}"/>
              </a:ext>
            </a:extLst>
          </p:cNvPr>
          <p:cNvSpPr txBox="1">
            <a:spLocks/>
          </p:cNvSpPr>
          <p:nvPr/>
        </p:nvSpPr>
        <p:spPr>
          <a:xfrm>
            <a:off x="4910806" y="1820133"/>
            <a:ext cx="6993013" cy="3052117"/>
          </a:xfrm>
          <a:prstGeom prst="rect">
            <a:avLst/>
          </a:prstGeom>
        </p:spPr>
        <p:txBody>
          <a:bodyPr vert="horz" lIns="91440" tIns="45720" rIns="91440" bIns="45720" rtlCol="0" anchor="ctr">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ES" sz="6400" dirty="0">
                <a:latin typeface="Consolas" panose="020B0609020204030204" pitchFamily="49" charset="0"/>
              </a:rPr>
              <a:t>Análisis de dependencias:</a:t>
            </a:r>
          </a:p>
          <a:p>
            <a:pPr algn="l"/>
            <a:r>
              <a:rPr lang="es-ES" sz="8000" dirty="0" err="1">
                <a:latin typeface="Consolas" panose="020B0609020204030204" pitchFamily="49" charset="0"/>
              </a:rPr>
              <a:t>Horas_Trabajo</a:t>
            </a:r>
            <a:r>
              <a:rPr lang="es-ES" sz="8000" dirty="0">
                <a:latin typeface="Consolas" panose="020B0609020204030204" pitchFamily="49" charset="0"/>
              </a:rPr>
              <a:t>: Depende de la combinación. (Técnico X tardó 2hs en poner el Repuesto Y).</a:t>
            </a:r>
          </a:p>
          <a:p>
            <a:pPr algn="l"/>
            <a:r>
              <a:rPr lang="es-ES" sz="8000" dirty="0" err="1">
                <a:latin typeface="Consolas" panose="020B0609020204030204" pitchFamily="49" charset="0"/>
              </a:rPr>
              <a:t>Nombre_Tecnico</a:t>
            </a:r>
            <a:r>
              <a:rPr lang="es-ES" sz="8000" dirty="0">
                <a:latin typeface="Consolas" panose="020B0609020204030204" pitchFamily="49" charset="0"/>
              </a:rPr>
              <a:t>: ¿Depende del Repuesto? NO. Depende solo de </a:t>
            </a:r>
            <a:r>
              <a:rPr lang="es-ES" sz="8000" dirty="0" err="1">
                <a:latin typeface="Consolas" panose="020B0609020204030204" pitchFamily="49" charset="0"/>
              </a:rPr>
              <a:t>ID_Tecnico</a:t>
            </a:r>
            <a:r>
              <a:rPr lang="es-ES" sz="8000" dirty="0">
                <a:latin typeface="Consolas" panose="020B0609020204030204" pitchFamily="49" charset="0"/>
              </a:rPr>
              <a:t>. PARCIAL.</a:t>
            </a:r>
          </a:p>
          <a:p>
            <a:pPr algn="l"/>
            <a:r>
              <a:rPr lang="es-ES" sz="8000" dirty="0" err="1">
                <a:latin typeface="Consolas" panose="020B0609020204030204" pitchFamily="49" charset="0"/>
              </a:rPr>
              <a:t>Precio_Repuesto</a:t>
            </a:r>
            <a:r>
              <a:rPr lang="es-ES" sz="8000" dirty="0">
                <a:latin typeface="Consolas" panose="020B0609020204030204" pitchFamily="49" charset="0"/>
              </a:rPr>
              <a:t>: ¿Depende del Técnico? NO. Depende solo de ID_Repuesto. PARCIAL.</a:t>
            </a:r>
          </a:p>
        </p:txBody>
      </p:sp>
      <p:sp>
        <p:nvSpPr>
          <p:cNvPr id="4" name="Marcador de contenido 2">
            <a:extLst>
              <a:ext uri="{FF2B5EF4-FFF2-40B4-BE49-F238E27FC236}">
                <a16:creationId xmlns:a16="http://schemas.microsoft.com/office/drawing/2014/main" id="{D752245C-0366-2E2D-15C4-2A526162E643}"/>
              </a:ext>
            </a:extLst>
          </p:cNvPr>
          <p:cNvSpPr txBox="1">
            <a:spLocks/>
          </p:cNvSpPr>
          <p:nvPr/>
        </p:nvSpPr>
        <p:spPr>
          <a:xfrm>
            <a:off x="4801626" y="168755"/>
            <a:ext cx="6993013" cy="41311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1600" dirty="0">
                <a:latin typeface="Consolas" panose="020B0609020204030204" pitchFamily="49" charset="0"/>
              </a:rPr>
              <a:t>Ejemplo: (</a:t>
            </a:r>
            <a:r>
              <a:rPr lang="es-ES" sz="1600" dirty="0">
                <a:latin typeface="Consolas" panose="020B0609020204030204" pitchFamily="49" charset="0"/>
              </a:rPr>
              <a:t>registrar qué técnico usó qué repuesto)</a:t>
            </a:r>
            <a:endParaRPr lang="es-AR" sz="1600" dirty="0">
              <a:latin typeface="Consolas" panose="020B0609020204030204" pitchFamily="49" charset="0"/>
            </a:endParaRPr>
          </a:p>
        </p:txBody>
      </p:sp>
      <p:pic>
        <p:nvPicPr>
          <p:cNvPr id="7" name="Imagen 6">
            <a:extLst>
              <a:ext uri="{FF2B5EF4-FFF2-40B4-BE49-F238E27FC236}">
                <a16:creationId xmlns:a16="http://schemas.microsoft.com/office/drawing/2014/main" id="{A22D82D9-5195-D4AD-4277-1A7D82A84D91}"/>
              </a:ext>
            </a:extLst>
          </p:cNvPr>
          <p:cNvPicPr>
            <a:picLocks noChangeAspect="1"/>
          </p:cNvPicPr>
          <p:nvPr/>
        </p:nvPicPr>
        <p:blipFill>
          <a:blip r:embed="rId3"/>
          <a:srcRect/>
          <a:stretch>
            <a:fillRect/>
          </a:stretch>
        </p:blipFill>
        <p:spPr>
          <a:xfrm>
            <a:off x="4801626" y="750626"/>
            <a:ext cx="7194473" cy="900752"/>
          </a:xfrm>
          <a:prstGeom prst="rect">
            <a:avLst/>
          </a:prstGeom>
        </p:spPr>
      </p:pic>
    </p:spTree>
    <p:extLst>
      <p:ext uri="{BB962C8B-B14F-4D97-AF65-F5344CB8AC3E}">
        <p14:creationId xmlns:p14="http://schemas.microsoft.com/office/powerpoint/2010/main" val="402704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A017FF-67ED-3D63-31FF-EEFF1ECA1309}"/>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DD5F8B03-C585-053A-53C6-678E4A1BE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9277EF34-2F75-89C6-99AA-2448CD0EF1E2}"/>
              </a:ext>
            </a:extLst>
          </p:cNvPr>
          <p:cNvSpPr>
            <a:spLocks noGrp="1"/>
          </p:cNvSpPr>
          <p:nvPr>
            <p:ph type="ctrTitle"/>
          </p:nvPr>
        </p:nvSpPr>
        <p:spPr>
          <a:xfrm>
            <a:off x="288178" y="637762"/>
            <a:ext cx="4076185"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 Triviales y No Triviales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4975AC72-9062-0A64-C957-B3B6282A03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2">
            <a:extLst>
              <a:ext uri="{FF2B5EF4-FFF2-40B4-BE49-F238E27FC236}">
                <a16:creationId xmlns:a16="http://schemas.microsoft.com/office/drawing/2014/main" id="{6D51178D-B3C5-C557-2513-E157F408132A}"/>
              </a:ext>
            </a:extLst>
          </p:cNvPr>
          <p:cNvSpPr>
            <a:spLocks noGrp="1"/>
          </p:cNvSpPr>
          <p:nvPr>
            <p:ph type="subTitle" idx="1"/>
          </p:nvPr>
        </p:nvSpPr>
        <p:spPr>
          <a:xfrm>
            <a:off x="4850876" y="3629683"/>
            <a:ext cx="7112871" cy="3055969"/>
          </a:xfrm>
        </p:spPr>
        <p:txBody>
          <a:bodyPr vert="horz" lIns="91440" tIns="45720" rIns="91440" bIns="45720" rtlCol="0" anchor="ctr">
            <a:normAutofit/>
          </a:bodyPr>
          <a:lstStyle/>
          <a:p>
            <a:pPr algn="just"/>
            <a:r>
              <a:rPr lang="es-ES" sz="1600" dirty="0">
                <a:latin typeface="Consolas" panose="020B0609020204030204" pitchFamily="49" charset="0"/>
              </a:rPr>
              <a:t>Ejemplos en </a:t>
            </a:r>
            <a:r>
              <a:rPr lang="es-ES" sz="1600" dirty="0" err="1">
                <a:latin typeface="Consolas" panose="020B0609020204030204" pitchFamily="49" charset="0"/>
              </a:rPr>
              <a:t>El_Chip</a:t>
            </a:r>
            <a:r>
              <a:rPr lang="es-ES" sz="1600" dirty="0">
                <a:latin typeface="Consolas" panose="020B0609020204030204" pitchFamily="49" charset="0"/>
              </a:rPr>
              <a:t>:</a:t>
            </a:r>
          </a:p>
          <a:p>
            <a:pPr algn="just"/>
            <a:r>
              <a:rPr lang="es-ES" sz="2600" dirty="0">
                <a:latin typeface="Consolas" panose="020B0609020204030204" pitchFamily="49" charset="0"/>
              </a:rPr>
              <a:t>(</a:t>
            </a:r>
            <a:r>
              <a:rPr lang="es-ES" sz="2600" dirty="0" err="1">
                <a:latin typeface="Consolas" panose="020B0609020204030204" pitchFamily="49" charset="0"/>
              </a:rPr>
              <a:t>ID_Cliente</a:t>
            </a:r>
            <a:r>
              <a:rPr lang="es-ES" sz="2600" dirty="0">
                <a:latin typeface="Consolas" panose="020B0609020204030204" pitchFamily="49" charset="0"/>
              </a:rPr>
              <a:t>, Nombre) -&gt; </a:t>
            </a:r>
            <a:r>
              <a:rPr lang="es-ES" sz="2600" dirty="0" err="1">
                <a:latin typeface="Consolas" panose="020B0609020204030204" pitchFamily="49" charset="0"/>
              </a:rPr>
              <a:t>ID_Cliente</a:t>
            </a:r>
            <a:endParaRPr lang="es-ES" sz="2600" dirty="0">
              <a:latin typeface="Consolas" panose="020B0609020204030204" pitchFamily="49" charset="0"/>
            </a:endParaRPr>
          </a:p>
          <a:p>
            <a:pPr algn="just"/>
            <a:r>
              <a:rPr lang="es-ES" sz="1700" dirty="0">
                <a:latin typeface="Consolas" panose="020B0609020204030204" pitchFamily="49" charset="0"/>
              </a:rPr>
              <a:t>Lógica: Si sé el ID y el Nombre de alguien, ¡obviamente sé su ID! No aporta ninguna información nueva.</a:t>
            </a:r>
          </a:p>
          <a:p>
            <a:pPr algn="just"/>
            <a:r>
              <a:rPr lang="es-ES" sz="2600" dirty="0">
                <a:latin typeface="Consolas" panose="020B0609020204030204" pitchFamily="49" charset="0"/>
              </a:rPr>
              <a:t>(</a:t>
            </a:r>
            <a:r>
              <a:rPr lang="es-ES" sz="2600" dirty="0" err="1">
                <a:latin typeface="Consolas" panose="020B0609020204030204" pitchFamily="49" charset="0"/>
              </a:rPr>
              <a:t>Nro_Orden</a:t>
            </a:r>
            <a:r>
              <a:rPr lang="es-ES" sz="2600" dirty="0">
                <a:latin typeface="Consolas" panose="020B0609020204030204" pitchFamily="49" charset="0"/>
              </a:rPr>
              <a:t>, Fecha, </a:t>
            </a:r>
            <a:r>
              <a:rPr lang="es-ES" sz="2600" dirty="0" err="1">
                <a:latin typeface="Consolas" panose="020B0609020204030204" pitchFamily="49" charset="0"/>
              </a:rPr>
              <a:t>ID_Equipo</a:t>
            </a:r>
            <a:r>
              <a:rPr lang="es-ES" sz="2600" dirty="0">
                <a:latin typeface="Consolas" panose="020B0609020204030204" pitchFamily="49" charset="0"/>
              </a:rPr>
              <a:t>) -&gt; Fecha</a:t>
            </a:r>
          </a:p>
          <a:p>
            <a:pPr algn="just"/>
            <a:r>
              <a:rPr lang="es-ES" sz="1700" dirty="0">
                <a:latin typeface="Consolas" panose="020B0609020204030204" pitchFamily="49" charset="0"/>
              </a:rPr>
              <a:t>Lógica: Si conozco la orden completa, conozco su fecha. Es una verdad matemática, no una regla de diseño</a:t>
            </a:r>
            <a:r>
              <a:rPr lang="es-ES" sz="2600" dirty="0">
                <a:latin typeface="Consolas" panose="020B0609020204030204" pitchFamily="49" charset="0"/>
              </a:rPr>
              <a:t>.</a:t>
            </a:r>
            <a:endParaRPr lang="es-AR" sz="1600" dirty="0">
              <a:latin typeface="Consolas" panose="020B0609020204030204" pitchFamily="49" charset="0"/>
            </a:endParaRPr>
          </a:p>
        </p:txBody>
      </p:sp>
      <p:sp>
        <p:nvSpPr>
          <p:cNvPr id="2" name="Marcador de contenido 2">
            <a:extLst>
              <a:ext uri="{FF2B5EF4-FFF2-40B4-BE49-F238E27FC236}">
                <a16:creationId xmlns:a16="http://schemas.microsoft.com/office/drawing/2014/main" id="{85BD96DC-C93D-2493-5A35-D924D137D3D2}"/>
              </a:ext>
            </a:extLst>
          </p:cNvPr>
          <p:cNvSpPr txBox="1">
            <a:spLocks/>
          </p:cNvSpPr>
          <p:nvPr/>
        </p:nvSpPr>
        <p:spPr>
          <a:xfrm>
            <a:off x="4926637" y="2007891"/>
            <a:ext cx="6993013" cy="156949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1600" dirty="0">
                <a:latin typeface="Consolas" panose="020B0609020204030204" pitchFamily="49" charset="0"/>
              </a:rPr>
              <a:t>Según la matemática:</a:t>
            </a:r>
          </a:p>
          <a:p>
            <a:pPr algn="l"/>
            <a:r>
              <a:rPr lang="es-ES" sz="3600" dirty="0">
                <a:latin typeface="Consolas" panose="020B0609020204030204" pitchFamily="49" charset="0"/>
              </a:rPr>
              <a:t>X → Y es trivial si Y ⊆ X.</a:t>
            </a:r>
          </a:p>
        </p:txBody>
      </p:sp>
      <p:sp>
        <p:nvSpPr>
          <p:cNvPr id="8" name="Marcador de contenido 2">
            <a:extLst>
              <a:ext uri="{FF2B5EF4-FFF2-40B4-BE49-F238E27FC236}">
                <a16:creationId xmlns:a16="http://schemas.microsoft.com/office/drawing/2014/main" id="{1FFD237C-9733-53C8-C9E1-EAA6CC365974}"/>
              </a:ext>
            </a:extLst>
          </p:cNvPr>
          <p:cNvSpPr txBox="1">
            <a:spLocks/>
          </p:cNvSpPr>
          <p:nvPr/>
        </p:nvSpPr>
        <p:spPr>
          <a:xfrm>
            <a:off x="4910806" y="346827"/>
            <a:ext cx="6993013" cy="1661064"/>
          </a:xfrm>
          <a:prstGeom prst="rect">
            <a:avLst/>
          </a:prstGeom>
        </p:spPr>
        <p:txBody>
          <a:bodyPr vert="horz" lIns="91440" tIns="45720" rIns="91440" bIns="45720" rtlCol="0" anchor="ctr">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2100" dirty="0">
                <a:latin typeface="Consolas" panose="020B0609020204030204" pitchFamily="49" charset="0"/>
              </a:rPr>
              <a:t>Definición:</a:t>
            </a:r>
          </a:p>
          <a:p>
            <a:pPr algn="l"/>
            <a:r>
              <a:rPr lang="es-ES" sz="3000" b="1" i="1" dirty="0">
                <a:latin typeface="Consolas" panose="020B0609020204030204" pitchFamily="49" charset="0"/>
              </a:rPr>
              <a:t>Una dependencia es </a:t>
            </a:r>
            <a:r>
              <a:rPr lang="es-ES" sz="3100" b="1" i="1" dirty="0">
                <a:latin typeface="Consolas" panose="020B0609020204030204" pitchFamily="49" charset="0"/>
              </a:rPr>
              <a:t>TRIVIAL</a:t>
            </a:r>
            <a:r>
              <a:rPr lang="es-ES" sz="3000" b="1" i="1" dirty="0">
                <a:latin typeface="Consolas" panose="020B0609020204030204" pitchFamily="49" charset="0"/>
              </a:rPr>
              <a:t> cuando el atributo de la derecha (el dependiente) ya está incluido en el atributo de la izquierda (el determinante).</a:t>
            </a:r>
          </a:p>
        </p:txBody>
      </p:sp>
    </p:spTree>
    <p:extLst>
      <p:ext uri="{BB962C8B-B14F-4D97-AF65-F5344CB8AC3E}">
        <p14:creationId xmlns:p14="http://schemas.microsoft.com/office/powerpoint/2010/main" val="354664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3A0BA3-8F49-E0F2-4C02-2CF866695AF1}"/>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67FE1B47-6F38-8709-9D25-FBD1EADBE5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896E6944-D358-27DE-7E13-E8280CE24422}"/>
              </a:ext>
            </a:extLst>
          </p:cNvPr>
          <p:cNvSpPr>
            <a:spLocks noGrp="1"/>
          </p:cNvSpPr>
          <p:nvPr>
            <p:ph type="ctrTitle"/>
          </p:nvPr>
        </p:nvSpPr>
        <p:spPr>
          <a:xfrm>
            <a:off x="288178" y="637762"/>
            <a:ext cx="4076185"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 Triviales y No Triviales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4FCC94DA-B56A-77BE-E95A-7E7DDD525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2">
            <a:extLst>
              <a:ext uri="{FF2B5EF4-FFF2-40B4-BE49-F238E27FC236}">
                <a16:creationId xmlns:a16="http://schemas.microsoft.com/office/drawing/2014/main" id="{20D1867F-A70A-07D4-CF63-901944DFAAFB}"/>
              </a:ext>
            </a:extLst>
          </p:cNvPr>
          <p:cNvSpPr>
            <a:spLocks noGrp="1"/>
          </p:cNvSpPr>
          <p:nvPr>
            <p:ph type="subTitle" idx="1"/>
          </p:nvPr>
        </p:nvSpPr>
        <p:spPr>
          <a:xfrm>
            <a:off x="4910807" y="3633276"/>
            <a:ext cx="6993013" cy="3055969"/>
          </a:xfrm>
        </p:spPr>
        <p:txBody>
          <a:bodyPr vert="horz" lIns="91440" tIns="45720" rIns="91440" bIns="45720" rtlCol="0" anchor="ctr">
            <a:normAutofit/>
          </a:bodyPr>
          <a:lstStyle/>
          <a:p>
            <a:pPr algn="just"/>
            <a:r>
              <a:rPr lang="es-ES" sz="1600" dirty="0">
                <a:latin typeface="Consolas" panose="020B0609020204030204" pitchFamily="49" charset="0"/>
              </a:rPr>
              <a:t>Ejemplos en </a:t>
            </a:r>
            <a:r>
              <a:rPr lang="es-ES" sz="1600" dirty="0" err="1">
                <a:latin typeface="Consolas" panose="020B0609020204030204" pitchFamily="49" charset="0"/>
              </a:rPr>
              <a:t>El_Chip</a:t>
            </a:r>
            <a:r>
              <a:rPr lang="es-ES" sz="1600" dirty="0">
                <a:latin typeface="Consolas" panose="020B0609020204030204" pitchFamily="49" charset="0"/>
              </a:rPr>
              <a:t>:</a:t>
            </a:r>
          </a:p>
          <a:p>
            <a:pPr marL="457200" indent="-457200" algn="just">
              <a:buFont typeface="Arial" panose="020B0604020202020204" pitchFamily="34" charset="0"/>
              <a:buChar char="•"/>
            </a:pPr>
            <a:r>
              <a:rPr lang="es-ES" sz="2600" dirty="0" err="1">
                <a:latin typeface="Consolas" panose="020B0609020204030204" pitchFamily="49" charset="0"/>
              </a:rPr>
              <a:t>ID_Cliente</a:t>
            </a:r>
            <a:r>
              <a:rPr lang="es-ES" sz="2600" dirty="0">
                <a:latin typeface="Consolas" panose="020B0609020204030204" pitchFamily="49" charset="0"/>
              </a:rPr>
              <a:t> -&gt; Apellido</a:t>
            </a:r>
          </a:p>
          <a:p>
            <a:pPr algn="just"/>
            <a:r>
              <a:rPr lang="es-ES" sz="1600" dirty="0">
                <a:latin typeface="Consolas" panose="020B0609020204030204" pitchFamily="49" charset="0"/>
              </a:rPr>
              <a:t>Lógica: El apellido no es parte del ID. Esta es una regla de negocio: un ID identifica a una persona.</a:t>
            </a:r>
          </a:p>
          <a:p>
            <a:pPr marL="457200" indent="-457200" algn="just">
              <a:buFont typeface="Arial" panose="020B0604020202020204" pitchFamily="34" charset="0"/>
              <a:buChar char="•"/>
            </a:pPr>
            <a:r>
              <a:rPr lang="es-ES" sz="2600" dirty="0" err="1">
                <a:latin typeface="Consolas" panose="020B0609020204030204" pitchFamily="49" charset="0"/>
              </a:rPr>
              <a:t>Nro_Serie</a:t>
            </a:r>
            <a:r>
              <a:rPr lang="es-ES" sz="2600" dirty="0">
                <a:latin typeface="Consolas" panose="020B0609020204030204" pitchFamily="49" charset="0"/>
              </a:rPr>
              <a:t> -&gt; Modelo</a:t>
            </a:r>
          </a:p>
          <a:p>
            <a:pPr algn="just"/>
            <a:r>
              <a:rPr lang="es-ES" sz="1600" dirty="0">
                <a:latin typeface="Consolas" panose="020B0609020204030204" pitchFamily="49" charset="0"/>
              </a:rPr>
              <a:t>Lógica: El modelo es un dato extra que el </a:t>
            </a:r>
            <a:r>
              <a:rPr lang="es-ES" sz="1600" dirty="0" err="1">
                <a:latin typeface="Consolas" panose="020B0609020204030204" pitchFamily="49" charset="0"/>
              </a:rPr>
              <a:t>Nro_Serie</a:t>
            </a:r>
            <a:r>
              <a:rPr lang="es-ES" sz="1600" dirty="0">
                <a:latin typeface="Consolas" panose="020B0609020204030204" pitchFamily="49" charset="0"/>
              </a:rPr>
              <a:t> nos permite conocer.</a:t>
            </a:r>
            <a:endParaRPr lang="es-AR" sz="1600" dirty="0">
              <a:latin typeface="Consolas" panose="020B0609020204030204" pitchFamily="49" charset="0"/>
            </a:endParaRPr>
          </a:p>
        </p:txBody>
      </p:sp>
      <p:sp>
        <p:nvSpPr>
          <p:cNvPr id="8" name="Marcador de contenido 2">
            <a:extLst>
              <a:ext uri="{FF2B5EF4-FFF2-40B4-BE49-F238E27FC236}">
                <a16:creationId xmlns:a16="http://schemas.microsoft.com/office/drawing/2014/main" id="{DE288DE3-9818-CBD1-CF20-EE068562CA6E}"/>
              </a:ext>
            </a:extLst>
          </p:cNvPr>
          <p:cNvSpPr txBox="1">
            <a:spLocks/>
          </p:cNvSpPr>
          <p:nvPr/>
        </p:nvSpPr>
        <p:spPr>
          <a:xfrm>
            <a:off x="4910806" y="346826"/>
            <a:ext cx="6993013" cy="1427383"/>
          </a:xfrm>
          <a:prstGeom prst="rect">
            <a:avLst/>
          </a:prstGeom>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2100" dirty="0">
                <a:latin typeface="Consolas" panose="020B0609020204030204" pitchFamily="49" charset="0"/>
              </a:rPr>
              <a:t>Definición:</a:t>
            </a:r>
          </a:p>
          <a:p>
            <a:pPr algn="l"/>
            <a:r>
              <a:rPr lang="es-ES" sz="2800" b="1" i="1" dirty="0">
                <a:latin typeface="Consolas" panose="020B0609020204030204" pitchFamily="49" charset="0"/>
              </a:rPr>
              <a:t>Una dependencia es NO TRIVIAL cuando el atributo de la derecha NO es parte del atributo de la izquierda.</a:t>
            </a:r>
          </a:p>
        </p:txBody>
      </p:sp>
      <p:grpSp>
        <p:nvGrpSpPr>
          <p:cNvPr id="7" name="Grupo 6">
            <a:extLst>
              <a:ext uri="{FF2B5EF4-FFF2-40B4-BE49-F238E27FC236}">
                <a16:creationId xmlns:a16="http://schemas.microsoft.com/office/drawing/2014/main" id="{8BE9606E-F590-3D26-B81F-E9FCA9400B9E}"/>
              </a:ext>
            </a:extLst>
          </p:cNvPr>
          <p:cNvGrpSpPr/>
          <p:nvPr/>
        </p:nvGrpSpPr>
        <p:grpSpPr>
          <a:xfrm>
            <a:off x="4942464" y="2121035"/>
            <a:ext cx="6993013" cy="1569494"/>
            <a:chOff x="4942464" y="2183641"/>
            <a:chExt cx="6993013" cy="1569494"/>
          </a:xfrm>
        </p:grpSpPr>
        <p:sp>
          <p:nvSpPr>
            <p:cNvPr id="2" name="Marcador de contenido 2">
              <a:extLst>
                <a:ext uri="{FF2B5EF4-FFF2-40B4-BE49-F238E27FC236}">
                  <a16:creationId xmlns:a16="http://schemas.microsoft.com/office/drawing/2014/main" id="{4EF91393-B4CE-7A4F-4EA6-E706F3D0EB56}"/>
                </a:ext>
              </a:extLst>
            </p:cNvPr>
            <p:cNvSpPr txBox="1">
              <a:spLocks/>
            </p:cNvSpPr>
            <p:nvPr/>
          </p:nvSpPr>
          <p:spPr>
            <a:xfrm>
              <a:off x="4942464" y="2183641"/>
              <a:ext cx="6993013" cy="156949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1600" dirty="0">
                  <a:latin typeface="Consolas" panose="020B0609020204030204" pitchFamily="49" charset="0"/>
                </a:rPr>
                <a:t>Según la matemática:</a:t>
              </a:r>
            </a:p>
            <a:p>
              <a:pPr algn="l"/>
              <a:r>
                <a:rPr lang="es-ES" sz="3600" dirty="0">
                  <a:latin typeface="Consolas" panose="020B0609020204030204" pitchFamily="49" charset="0"/>
                </a:rPr>
                <a:t>X → Y es trivial si Y ⊆ X.</a:t>
              </a:r>
            </a:p>
          </p:txBody>
        </p:sp>
        <p:cxnSp>
          <p:nvCxnSpPr>
            <p:cNvPr id="4" name="Conector recto 3">
              <a:extLst>
                <a:ext uri="{FF2B5EF4-FFF2-40B4-BE49-F238E27FC236}">
                  <a16:creationId xmlns:a16="http://schemas.microsoft.com/office/drawing/2014/main" id="{0C1DBEE9-FDCF-6A87-1242-C2E126E7ECC0}"/>
                </a:ext>
              </a:extLst>
            </p:cNvPr>
            <p:cNvCxnSpPr/>
            <p:nvPr/>
          </p:nvCxnSpPr>
          <p:spPr>
            <a:xfrm>
              <a:off x="10536072" y="2893325"/>
              <a:ext cx="354841" cy="535675"/>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35271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B4CC74-E1B4-23C0-E4DC-BD81E3362336}"/>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368D8449-E736-8F3A-BDC5-489474BF0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D71BA673-0362-FB35-9628-E521534B9ACD}"/>
              </a:ext>
            </a:extLst>
          </p:cNvPr>
          <p:cNvSpPr>
            <a:spLocks noGrp="1"/>
          </p:cNvSpPr>
          <p:nvPr>
            <p:ph type="ctrTitle"/>
          </p:nvPr>
        </p:nvSpPr>
        <p:spPr>
          <a:xfrm>
            <a:off x="136478" y="637762"/>
            <a:ext cx="4367283"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 Completamente No Triviales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BD726422-CDEA-0F42-0BFA-3C1ACC014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arcador de contenido 2">
            <a:extLst>
              <a:ext uri="{FF2B5EF4-FFF2-40B4-BE49-F238E27FC236}">
                <a16:creationId xmlns:a16="http://schemas.microsoft.com/office/drawing/2014/main" id="{63A3CF26-914B-6EA1-5488-8AA6EEEE91E7}"/>
              </a:ext>
            </a:extLst>
          </p:cNvPr>
          <p:cNvSpPr>
            <a:spLocks noGrp="1"/>
          </p:cNvSpPr>
          <p:nvPr>
            <p:ph type="subTitle" idx="1"/>
          </p:nvPr>
        </p:nvSpPr>
        <p:spPr>
          <a:xfrm>
            <a:off x="4910807" y="3633276"/>
            <a:ext cx="6993013" cy="3055969"/>
          </a:xfrm>
        </p:spPr>
        <p:txBody>
          <a:bodyPr vert="horz" lIns="91440" tIns="45720" rIns="91440" bIns="45720" rtlCol="0" anchor="ctr">
            <a:normAutofit/>
          </a:bodyPr>
          <a:lstStyle/>
          <a:p>
            <a:pPr algn="just"/>
            <a:r>
              <a:rPr lang="es-ES" sz="1600" dirty="0">
                <a:latin typeface="Consolas" panose="020B0609020204030204" pitchFamily="49" charset="0"/>
              </a:rPr>
              <a:t>Ejemplos en </a:t>
            </a:r>
            <a:r>
              <a:rPr lang="es-ES" sz="1600" dirty="0" err="1">
                <a:latin typeface="Consolas" panose="020B0609020204030204" pitchFamily="49" charset="0"/>
              </a:rPr>
              <a:t>El_Chip</a:t>
            </a:r>
            <a:r>
              <a:rPr lang="es-ES" sz="1600" dirty="0">
                <a:latin typeface="Consolas" panose="020B0609020204030204" pitchFamily="49" charset="0"/>
              </a:rPr>
              <a:t>:</a:t>
            </a:r>
          </a:p>
          <a:p>
            <a:pPr marL="457200" indent="-457200" algn="just">
              <a:buFont typeface="Arial" panose="020B0604020202020204" pitchFamily="34" charset="0"/>
              <a:buChar char="•"/>
            </a:pPr>
            <a:r>
              <a:rPr lang="es-ES" sz="2600" dirty="0" err="1">
                <a:latin typeface="Consolas" panose="020B0609020204030204" pitchFamily="49" charset="0"/>
              </a:rPr>
              <a:t>Nro_Orden</a:t>
            </a:r>
            <a:r>
              <a:rPr lang="es-ES" sz="2600" dirty="0">
                <a:latin typeface="Consolas" panose="020B0609020204030204" pitchFamily="49" charset="0"/>
              </a:rPr>
              <a:t> -&gt; </a:t>
            </a:r>
            <a:r>
              <a:rPr lang="es-ES" sz="2600" dirty="0" err="1">
                <a:latin typeface="Consolas" panose="020B0609020204030204" pitchFamily="49" charset="0"/>
              </a:rPr>
              <a:t>Fecha_Ingreso</a:t>
            </a:r>
            <a:endParaRPr lang="es-ES" sz="2600" dirty="0">
              <a:latin typeface="Consolas" panose="020B0609020204030204" pitchFamily="49" charset="0"/>
            </a:endParaRPr>
          </a:p>
          <a:p>
            <a:pPr algn="just"/>
            <a:r>
              <a:rPr lang="es-ES" sz="1600" dirty="0">
                <a:latin typeface="Consolas" panose="020B0609020204030204" pitchFamily="49" charset="0"/>
              </a:rPr>
              <a:t>Lógica: No hay ninguna intersección entre el número y la fecha. El número de orden "determina" en qué fecha entró</a:t>
            </a:r>
            <a:endParaRPr lang="es-AR" sz="1600" dirty="0">
              <a:latin typeface="Consolas" panose="020B0609020204030204" pitchFamily="49" charset="0"/>
            </a:endParaRPr>
          </a:p>
        </p:txBody>
      </p:sp>
      <p:sp>
        <p:nvSpPr>
          <p:cNvPr id="8" name="Marcador de contenido 2">
            <a:extLst>
              <a:ext uri="{FF2B5EF4-FFF2-40B4-BE49-F238E27FC236}">
                <a16:creationId xmlns:a16="http://schemas.microsoft.com/office/drawing/2014/main" id="{BDA2909A-2DAE-0E22-BF09-1DBFF8793C2F}"/>
              </a:ext>
            </a:extLst>
          </p:cNvPr>
          <p:cNvSpPr txBox="1">
            <a:spLocks/>
          </p:cNvSpPr>
          <p:nvPr/>
        </p:nvSpPr>
        <p:spPr>
          <a:xfrm>
            <a:off x="4910806" y="346826"/>
            <a:ext cx="6993013" cy="1427383"/>
          </a:xfrm>
          <a:prstGeom prst="rect">
            <a:avLst/>
          </a:prstGeom>
        </p:spPr>
        <p:txBody>
          <a:bodyPr vert="horz" lIns="91440" tIns="45720" rIns="91440" bIns="45720" rtlCol="0" anchor="ctr">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2100" dirty="0">
                <a:latin typeface="Consolas" panose="020B0609020204030204" pitchFamily="49" charset="0"/>
              </a:rPr>
              <a:t>Definición:</a:t>
            </a:r>
          </a:p>
          <a:p>
            <a:pPr algn="l"/>
            <a:r>
              <a:rPr lang="es-ES" sz="2800" b="1" i="1" dirty="0">
                <a:latin typeface="Consolas" panose="020B0609020204030204" pitchFamily="49" charset="0"/>
              </a:rPr>
              <a:t>Una dependencia es COMPLETAMENTE NO TRIVIAL cuando el atributo de la derecha NO tiene absolutamente nada que ver con el atributo de la izquierda.</a:t>
            </a:r>
          </a:p>
        </p:txBody>
      </p:sp>
      <p:sp>
        <p:nvSpPr>
          <p:cNvPr id="2" name="Marcador de contenido 2">
            <a:extLst>
              <a:ext uri="{FF2B5EF4-FFF2-40B4-BE49-F238E27FC236}">
                <a16:creationId xmlns:a16="http://schemas.microsoft.com/office/drawing/2014/main" id="{2F606E4F-E8E1-E9C7-783C-AAE5F94D5EB6}"/>
              </a:ext>
            </a:extLst>
          </p:cNvPr>
          <p:cNvSpPr txBox="1">
            <a:spLocks/>
          </p:cNvSpPr>
          <p:nvPr/>
        </p:nvSpPr>
        <p:spPr>
          <a:xfrm>
            <a:off x="4942464" y="2121035"/>
            <a:ext cx="6993013" cy="156949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1600" dirty="0">
                <a:latin typeface="Consolas" panose="020B0609020204030204" pitchFamily="49" charset="0"/>
              </a:rPr>
              <a:t>Según la matemática:</a:t>
            </a:r>
          </a:p>
          <a:p>
            <a:pPr algn="l"/>
            <a:r>
              <a:rPr lang="es-ES" sz="3600" dirty="0">
                <a:latin typeface="Consolas" panose="020B0609020204030204" pitchFamily="49" charset="0"/>
              </a:rPr>
              <a:t>X → Y  si X ∩ Y = ∅</a:t>
            </a:r>
          </a:p>
        </p:txBody>
      </p:sp>
    </p:spTree>
    <p:extLst>
      <p:ext uri="{BB962C8B-B14F-4D97-AF65-F5344CB8AC3E}">
        <p14:creationId xmlns:p14="http://schemas.microsoft.com/office/powerpoint/2010/main" val="22443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83902F-05FA-7107-55CD-D5BC30E980F6}"/>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4D5DDC41-E0C4-BD0A-ADE0-603CE6AA2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79A83705-8382-F7C2-5D7C-4839CD91EACB}"/>
              </a:ext>
            </a:extLst>
          </p:cNvPr>
          <p:cNvSpPr>
            <a:spLocks noGrp="1"/>
          </p:cNvSpPr>
          <p:nvPr>
            <p:ph type="ctrTitle"/>
          </p:nvPr>
        </p:nvSpPr>
        <p:spPr>
          <a:xfrm>
            <a:off x="136478" y="637762"/>
            <a:ext cx="4367283"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Funcionales Completamente No Triviales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D479A05D-5BC8-823D-A508-C07A238A5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Marcador de contenido 2">
            <a:extLst>
              <a:ext uri="{FF2B5EF4-FFF2-40B4-BE49-F238E27FC236}">
                <a16:creationId xmlns:a16="http://schemas.microsoft.com/office/drawing/2014/main" id="{BB5CEE77-0A64-755D-3513-EEC64CC727A2}"/>
              </a:ext>
            </a:extLst>
          </p:cNvPr>
          <p:cNvSpPr txBox="1">
            <a:spLocks/>
          </p:cNvSpPr>
          <p:nvPr/>
        </p:nvSpPr>
        <p:spPr>
          <a:xfrm>
            <a:off x="4864412" y="196702"/>
            <a:ext cx="6993013" cy="159115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1600" dirty="0">
                <a:latin typeface="Consolas" panose="020B0609020204030204" pitchFamily="49" charset="0"/>
              </a:rPr>
              <a:t>Dato:</a:t>
            </a:r>
          </a:p>
          <a:p>
            <a:pPr algn="just"/>
            <a:r>
              <a:rPr lang="es-AR" dirty="0">
                <a:latin typeface="Consolas" panose="020B0609020204030204" pitchFamily="49" charset="0"/>
              </a:rPr>
              <a:t>Las Dependencias Completamente No Triviales expresan las Reglas de Negocio.</a:t>
            </a:r>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CFC842EA-2EEB-6556-C9E4-E8B1438EAA3C}"/>
                  </a:ext>
                </a:extLst>
              </p:cNvPr>
              <p:cNvSpPr txBox="1">
                <a:spLocks/>
              </p:cNvSpPr>
              <p:nvPr/>
            </p:nvSpPr>
            <p:spPr>
              <a:xfrm>
                <a:off x="4803071" y="1787858"/>
                <a:ext cx="7115697" cy="4844954"/>
              </a:xfrm>
              <a:prstGeom prst="rect">
                <a:avLst/>
              </a:prstGeom>
            </p:spPr>
            <p:txBody>
              <a:bodyPr vert="horz" lIns="91440" tIns="45720" rIns="91440" bIns="45720" rtlCol="0" anchor="ctr">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14:m>
                  <m:oMathPara xmlns:m="http://schemas.openxmlformats.org/officeDocument/2006/math">
                    <m:oMathParaPr>
                      <m:jc m:val="centerGroup"/>
                    </m:oMathParaPr>
                    <m:oMath xmlns:m="http://schemas.openxmlformats.org/officeDocument/2006/math">
                      <m:r>
                        <m:rPr>
                          <m:nor/>
                        </m:rPr>
                        <a:rPr lang="es-AR" sz="1800" b="1">
                          <a:latin typeface="Consolas" panose="020B0609020204030204" pitchFamily="49" charset="0"/>
                        </a:rPr>
                        <m:t>Modelo</m:t>
                      </m:r>
                      <m:r>
                        <a:rPr lang="es-AR" sz="1800" b="1" i="0">
                          <a:latin typeface="Cambria Math" panose="02040503050406030204" pitchFamily="18" charset="0"/>
                        </a:rPr>
                        <m:t>→</m:t>
                      </m:r>
                      <m:r>
                        <m:rPr>
                          <m:nor/>
                        </m:rPr>
                        <a:rPr lang="es-AR" sz="1800" b="1">
                          <a:latin typeface="Consolas" panose="020B0609020204030204" pitchFamily="49" charset="0"/>
                        </a:rPr>
                        <m:t>Marca</m:t>
                      </m:r>
                    </m:oMath>
                  </m:oMathPara>
                </a14:m>
                <a:endParaRPr lang="es-AR" sz="1800" b="1" dirty="0">
                  <a:latin typeface="Consolas" panose="020B0609020204030204" pitchFamily="49" charset="0"/>
                </a:endParaRPr>
              </a:p>
              <a:p>
                <a:pPr algn="l"/>
                <a:r>
                  <a:rPr lang="es-AR" sz="1800" dirty="0">
                    <a:latin typeface="Consolas" panose="020B0609020204030204" pitchFamily="49" charset="0"/>
                  </a:rPr>
                  <a:t>La regla de negocio: "Cada modelo de dispositivo pertenece a una y solo una marca" (si es un 'Galaxy S21', la marca es sí o sí 'Samsung’).</a:t>
                </a:r>
              </a:p>
              <a:p>
                <a:pPr algn="l"/>
                <a:endParaRPr lang="es-AR" sz="1800" dirty="0">
                  <a:latin typeface="Consolas" panose="020B0609020204030204" pitchFamily="49" charset="0"/>
                </a:endParaRPr>
              </a:p>
              <a:p>
                <a:pPr algn="l"/>
                <a14:m>
                  <m:oMathPara xmlns:m="http://schemas.openxmlformats.org/officeDocument/2006/math">
                    <m:oMathParaPr>
                      <m:jc m:val="centerGroup"/>
                    </m:oMathParaPr>
                    <m:oMath xmlns:m="http://schemas.openxmlformats.org/officeDocument/2006/math">
                      <m:r>
                        <m:rPr>
                          <m:nor/>
                        </m:rPr>
                        <a:rPr lang="es-AR" sz="1800" b="1">
                          <a:latin typeface="Consolas" panose="020B0609020204030204" pitchFamily="49" charset="0"/>
                        </a:rPr>
                        <m:t>Nro</m:t>
                      </m:r>
                      <m:r>
                        <m:rPr>
                          <m:lit/>
                          <m:nor/>
                        </m:rPr>
                        <a:rPr lang="es-AR" sz="1800" b="1">
                          <a:latin typeface="Consolas" panose="020B0609020204030204" pitchFamily="49" charset="0"/>
                        </a:rPr>
                        <m:t>_</m:t>
                      </m:r>
                      <m:r>
                        <m:rPr>
                          <m:nor/>
                        </m:rPr>
                        <a:rPr lang="es-AR" sz="1800" b="1">
                          <a:latin typeface="Consolas" panose="020B0609020204030204" pitchFamily="49" charset="0"/>
                        </a:rPr>
                        <m:t>Orden</m:t>
                      </m:r>
                      <m:r>
                        <a:rPr lang="es-AR" sz="1800" b="1" i="0">
                          <a:latin typeface="Cambria Math" panose="02040503050406030204" pitchFamily="18" charset="0"/>
                        </a:rPr>
                        <m:t>→</m:t>
                      </m:r>
                      <m:r>
                        <m:rPr>
                          <m:nor/>
                        </m:rPr>
                        <a:rPr lang="es-AR" sz="1800" b="1">
                          <a:latin typeface="Consolas" panose="020B0609020204030204" pitchFamily="49" charset="0"/>
                        </a:rPr>
                        <m:t>ID</m:t>
                      </m:r>
                      <m:r>
                        <m:rPr>
                          <m:lit/>
                          <m:nor/>
                        </m:rPr>
                        <a:rPr lang="es-AR" sz="1800" b="1">
                          <a:latin typeface="Consolas" panose="020B0609020204030204" pitchFamily="49" charset="0"/>
                        </a:rPr>
                        <m:t>_</m:t>
                      </m:r>
                      <m:r>
                        <m:rPr>
                          <m:nor/>
                        </m:rPr>
                        <a:rPr lang="es-AR" sz="1800" b="1">
                          <a:latin typeface="Consolas" panose="020B0609020204030204" pitchFamily="49" charset="0"/>
                        </a:rPr>
                        <m:t>Cliente</m:t>
                      </m:r>
                    </m:oMath>
                  </m:oMathPara>
                </a14:m>
                <a:endParaRPr lang="es-AR" sz="1800" b="1" dirty="0">
                  <a:latin typeface="Consolas" panose="020B0609020204030204" pitchFamily="49" charset="0"/>
                </a:endParaRPr>
              </a:p>
              <a:p>
                <a:pPr algn="l"/>
                <a:r>
                  <a:rPr lang="es-AR" sz="1800" dirty="0">
                    <a:latin typeface="Consolas" panose="020B0609020204030204" pitchFamily="49" charset="0"/>
                  </a:rPr>
                  <a:t>La regla de negocio: "Una orden de servicio del taller pertenece a un único cliente".</a:t>
                </a:r>
              </a:p>
              <a:p>
                <a:pPr algn="l"/>
                <a:endParaRPr lang="es-AR" sz="1800" dirty="0">
                  <a:latin typeface="Consolas" panose="020B0609020204030204" pitchFamily="49" charset="0"/>
                </a:endParaRPr>
              </a:p>
              <a:p>
                <a:pPr algn="l"/>
                <a14:m>
                  <m:oMathPara xmlns:m="http://schemas.openxmlformats.org/officeDocument/2006/math">
                    <m:oMathParaPr>
                      <m:jc m:val="centerGroup"/>
                    </m:oMathParaPr>
                    <m:oMath xmlns:m="http://schemas.openxmlformats.org/officeDocument/2006/math">
                      <m:r>
                        <m:rPr>
                          <m:nor/>
                        </m:rPr>
                        <a:rPr lang="es-AR" sz="1800" b="1">
                          <a:latin typeface="Consolas" panose="020B0609020204030204" pitchFamily="49" charset="0"/>
                        </a:rPr>
                        <m:t>ID</m:t>
                      </m:r>
                      <m:r>
                        <m:rPr>
                          <m:lit/>
                          <m:nor/>
                        </m:rPr>
                        <a:rPr lang="es-AR" sz="1800" b="1">
                          <a:latin typeface="Consolas" panose="020B0609020204030204" pitchFamily="49" charset="0"/>
                        </a:rPr>
                        <m:t>_</m:t>
                      </m:r>
                      <m:r>
                        <m:rPr>
                          <m:nor/>
                        </m:rPr>
                        <a:rPr lang="es-AR" sz="1800" b="1">
                          <a:latin typeface="Consolas" panose="020B0609020204030204" pitchFamily="49" charset="0"/>
                        </a:rPr>
                        <m:t>Repuesto</m:t>
                      </m:r>
                      <m:r>
                        <a:rPr lang="es-AR" sz="1800" b="1" i="0">
                          <a:latin typeface="Cambria Math" panose="02040503050406030204" pitchFamily="18" charset="0"/>
                        </a:rPr>
                        <m:t>→</m:t>
                      </m:r>
                      <m:r>
                        <m:rPr>
                          <m:nor/>
                        </m:rPr>
                        <a:rPr lang="es-AR" sz="1800" b="1">
                          <a:latin typeface="Consolas" panose="020B0609020204030204" pitchFamily="49" charset="0"/>
                        </a:rPr>
                        <m:t>Precio</m:t>
                      </m:r>
                      <m:r>
                        <m:rPr>
                          <m:lit/>
                          <m:nor/>
                        </m:rPr>
                        <a:rPr lang="es-AR" sz="1800" b="1">
                          <a:latin typeface="Consolas" panose="020B0609020204030204" pitchFamily="49" charset="0"/>
                        </a:rPr>
                        <m:t>_</m:t>
                      </m:r>
                      <m:r>
                        <m:rPr>
                          <m:nor/>
                        </m:rPr>
                        <a:rPr lang="es-AR" sz="1800" b="1">
                          <a:latin typeface="Consolas" panose="020B0609020204030204" pitchFamily="49" charset="0"/>
                        </a:rPr>
                        <m:t>Unitari</m:t>
                      </m:r>
                      <m:r>
                        <m:rPr>
                          <m:nor/>
                        </m:rPr>
                        <a:rPr lang="es-AR" sz="1800" b="1" i="0" smtClean="0">
                          <a:latin typeface="Consolas" panose="020B0609020204030204" pitchFamily="49" charset="0"/>
                        </a:rPr>
                        <m:t>o</m:t>
                      </m:r>
                    </m:oMath>
                  </m:oMathPara>
                </a14:m>
                <a:endParaRPr lang="es-AR" sz="1800" b="1" dirty="0">
                  <a:latin typeface="Consolas" panose="020B0609020204030204" pitchFamily="49" charset="0"/>
                </a:endParaRPr>
              </a:p>
              <a:p>
                <a:pPr algn="l"/>
                <a:r>
                  <a:rPr lang="es-AR" sz="1800" dirty="0">
                    <a:latin typeface="Consolas" panose="020B0609020204030204" pitchFamily="49" charset="0"/>
                  </a:rPr>
                  <a:t>La regla de negocio: "Cada repuesto en inventario tiene un precio de lista predefinido".</a:t>
                </a:r>
              </a:p>
              <a:p>
                <a:pPr algn="l"/>
                <a:endParaRPr lang="es-AR" sz="1800" dirty="0">
                  <a:latin typeface="Consolas" panose="020B0609020204030204" pitchFamily="49" charset="0"/>
                </a:endParaRPr>
              </a:p>
              <a:p>
                <a:pPr algn="l"/>
                <a:r>
                  <a:rPr lang="es-AR" sz="1800" dirty="0">
                    <a:latin typeface="Consolas" panose="020B0609020204030204" pitchFamily="49" charset="0"/>
                  </a:rPr>
                  <a:t>En resumen: No son una obviedad matemática; es una regla del mercado, del negocio, de las ciencias que la base de datos debe respetar.</a:t>
                </a:r>
              </a:p>
            </p:txBody>
          </p:sp>
        </mc:Choice>
        <mc:Fallback xmlns="">
          <p:sp>
            <p:nvSpPr>
              <p:cNvPr id="9" name="Marcador de contenido 2">
                <a:extLst>
                  <a:ext uri="{FF2B5EF4-FFF2-40B4-BE49-F238E27FC236}">
                    <a16:creationId xmlns:a16="http://schemas.microsoft.com/office/drawing/2014/main" id="{CFC842EA-2EEB-6556-C9E4-E8B1438EAA3C}"/>
                  </a:ext>
                </a:extLst>
              </p:cNvPr>
              <p:cNvSpPr txBox="1">
                <a:spLocks noRot="1" noChangeAspect="1" noMove="1" noResize="1" noEditPoints="1" noAdjustHandles="1" noChangeArrowheads="1" noChangeShapeType="1" noTextEdit="1"/>
              </p:cNvSpPr>
              <p:nvPr/>
            </p:nvSpPr>
            <p:spPr>
              <a:xfrm>
                <a:off x="4803071" y="1787858"/>
                <a:ext cx="7115697" cy="4844954"/>
              </a:xfrm>
              <a:prstGeom prst="rect">
                <a:avLst/>
              </a:prstGeom>
              <a:blipFill>
                <a:blip r:embed="rId3"/>
                <a:stretch>
                  <a:fillRect l="-771" r="-1971"/>
                </a:stretch>
              </a:blipFill>
            </p:spPr>
            <p:txBody>
              <a:bodyPr/>
              <a:lstStyle/>
              <a:p>
                <a:r>
                  <a:rPr lang="es-AR">
                    <a:noFill/>
                  </a:rPr>
                  <a:t> </a:t>
                </a:r>
              </a:p>
            </p:txBody>
          </p:sp>
        </mc:Fallback>
      </mc:AlternateContent>
    </p:spTree>
    <p:extLst>
      <p:ext uri="{BB962C8B-B14F-4D97-AF65-F5344CB8AC3E}">
        <p14:creationId xmlns:p14="http://schemas.microsoft.com/office/powerpoint/2010/main" val="2282641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746704-403E-A5CC-1E15-05DB5B90F537}"/>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5AB04561-EF0E-58A8-F552-9E5D058E61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0433E5F4-6624-AD5D-2705-E4608174131A}"/>
              </a:ext>
            </a:extLst>
          </p:cNvPr>
          <p:cNvSpPr>
            <a:spLocks noGrp="1"/>
          </p:cNvSpPr>
          <p:nvPr>
            <p:ph type="ctrTitle"/>
          </p:nvPr>
        </p:nvSpPr>
        <p:spPr>
          <a:xfrm>
            <a:off x="288178" y="637762"/>
            <a:ext cx="4076185"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Dependencias Transitivas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1A57700C-22B6-BDE9-6379-DDCC64B2B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08CA23A-6647-8132-0C19-986495968C3E}"/>
              </a:ext>
            </a:extLst>
          </p:cNvPr>
          <p:cNvSpPr txBox="1">
            <a:spLocks/>
          </p:cNvSpPr>
          <p:nvPr/>
        </p:nvSpPr>
        <p:spPr>
          <a:xfrm>
            <a:off x="4792339" y="278588"/>
            <a:ext cx="6993013" cy="1661064"/>
          </a:xfrm>
          <a:prstGeom prst="rect">
            <a:avLst/>
          </a:prstGeom>
        </p:spPr>
        <p:txBody>
          <a:bodyPr vert="horz" lIns="91440" tIns="45720" rIns="91440" bIns="45720" rtlCol="0" anchor="ctr">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2100" dirty="0">
                <a:latin typeface="Consolas" panose="020B0609020204030204" pitchFamily="49" charset="0"/>
              </a:rPr>
              <a:t>Definición:</a:t>
            </a:r>
          </a:p>
          <a:p>
            <a:pPr algn="l"/>
            <a:r>
              <a:rPr lang="es-AR" sz="3400" i="1" dirty="0">
                <a:latin typeface="Consolas" panose="020B0609020204030204" pitchFamily="49" charset="0"/>
              </a:rPr>
              <a:t>La Dependencia Transitiva ocurre cuando un atributo depende de la clave primaria, pero no de forma directa, sino a través de otro atributo intermedio que tampoco es clave</a:t>
            </a:r>
            <a:endParaRPr lang="es-ES" sz="3400" b="1" i="1"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190EA92-986F-7DD1-A99D-4C356EDFCFB6}"/>
                  </a:ext>
                </a:extLst>
              </p:cNvPr>
              <p:cNvSpPr txBox="1"/>
              <p:nvPr/>
            </p:nvSpPr>
            <p:spPr>
              <a:xfrm>
                <a:off x="4792339" y="3621241"/>
                <a:ext cx="7111483" cy="923330"/>
              </a:xfrm>
              <a:prstGeom prst="rect">
                <a:avLst/>
              </a:prstGeom>
              <a:noFill/>
            </p:spPr>
            <p:txBody>
              <a:bodyPr wrap="square">
                <a:spAutoFit/>
              </a:bodyPr>
              <a:lstStyle/>
              <a:p>
                <a:pPr algn="l"/>
                <a:r>
                  <a:rPr lang="es-AR" b="0" i="0" dirty="0">
                    <a:solidFill>
                      <a:schemeClr val="tx1">
                        <a:lumMod val="95000"/>
                        <a:lumOff val="5000"/>
                      </a:schemeClr>
                    </a:solidFill>
                    <a:effectLst/>
                    <a:latin typeface="Consolas" panose="020B0609020204030204" pitchFamily="49" charset="0"/>
                  </a:rPr>
                  <a:t>Si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𝑋</m:t>
                    </m:r>
                  </m:oMath>
                </a14:m>
                <a:r>
                  <a:rPr lang="es-AR" b="0" i="0" dirty="0">
                    <a:solidFill>
                      <a:schemeClr val="tx1">
                        <a:lumMod val="95000"/>
                        <a:lumOff val="5000"/>
                      </a:schemeClr>
                    </a:solidFill>
                    <a:effectLst/>
                    <a:latin typeface="Consolas" panose="020B0609020204030204" pitchFamily="49" charset="0"/>
                  </a:rPr>
                  <a:t> es la Clave Primaria, e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𝑌</m:t>
                    </m:r>
                  </m:oMath>
                </a14:m>
                <a:r>
                  <a:rPr lang="es-AR" b="0" i="0" dirty="0">
                    <a:solidFill>
                      <a:schemeClr val="tx1">
                        <a:lumMod val="95000"/>
                        <a:lumOff val="5000"/>
                      </a:schemeClr>
                    </a:solidFill>
                    <a:effectLst/>
                    <a:latin typeface="Consolas" panose="020B0609020204030204" pitchFamily="49" charset="0"/>
                  </a:rPr>
                  <a:t> y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𝑍</m:t>
                    </m:r>
                  </m:oMath>
                </a14:m>
                <a:r>
                  <a:rPr lang="es-AR" b="0" i="0" dirty="0">
                    <a:solidFill>
                      <a:schemeClr val="tx1">
                        <a:lumMod val="95000"/>
                        <a:lumOff val="5000"/>
                      </a:schemeClr>
                    </a:solidFill>
                    <a:effectLst/>
                    <a:latin typeface="Consolas" panose="020B0609020204030204" pitchFamily="49" charset="0"/>
                  </a:rPr>
                  <a:t> son atributos comunes, entonces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𝑍</m:t>
                    </m:r>
                  </m:oMath>
                </a14:m>
                <a:r>
                  <a:rPr lang="es-AR" b="0" i="0" dirty="0">
                    <a:solidFill>
                      <a:schemeClr val="tx1">
                        <a:lumMod val="95000"/>
                        <a:lumOff val="5000"/>
                      </a:schemeClr>
                    </a:solidFill>
                    <a:effectLst/>
                    <a:latin typeface="Consolas" panose="020B0609020204030204" pitchFamily="49" charset="0"/>
                  </a:rPr>
                  <a:t> depende de la clave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𝑋</m:t>
                    </m:r>
                  </m:oMath>
                </a14:m>
                <a:r>
                  <a:rPr lang="es-AR" b="0" i="0" dirty="0">
                    <a:solidFill>
                      <a:schemeClr val="tx1">
                        <a:lumMod val="95000"/>
                        <a:lumOff val="5000"/>
                      </a:schemeClr>
                    </a:solidFill>
                    <a:effectLst/>
                    <a:latin typeface="Consolas" panose="020B0609020204030204" pitchFamily="49" charset="0"/>
                  </a:rPr>
                  <a:t> </a:t>
                </a:r>
                <a:r>
                  <a:rPr lang="es-AR" b="0" i="1" dirty="0">
                    <a:solidFill>
                      <a:schemeClr val="tx1">
                        <a:lumMod val="95000"/>
                        <a:lumOff val="5000"/>
                      </a:schemeClr>
                    </a:solidFill>
                    <a:effectLst/>
                    <a:latin typeface="Consolas" panose="020B0609020204030204" pitchFamily="49" charset="0"/>
                  </a:rPr>
                  <a:t>a través</a:t>
                </a:r>
                <a:r>
                  <a:rPr lang="es-AR" b="0" i="0" dirty="0">
                    <a:solidFill>
                      <a:schemeClr val="tx1">
                        <a:lumMod val="95000"/>
                        <a:lumOff val="5000"/>
                      </a:schemeClr>
                    </a:solidFill>
                    <a:effectLst/>
                    <a:latin typeface="Consolas" panose="020B0609020204030204" pitchFamily="49" charset="0"/>
                  </a:rPr>
                  <a:t> de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𝑌</m:t>
                    </m:r>
                  </m:oMath>
                </a14:m>
                <a:r>
                  <a:rPr lang="es-AR" b="0" i="0" dirty="0">
                    <a:solidFill>
                      <a:schemeClr val="tx1">
                        <a:lumMod val="95000"/>
                        <a:lumOff val="5000"/>
                      </a:schemeClr>
                    </a:solidFill>
                    <a:effectLst/>
                    <a:latin typeface="Consolas" panose="020B0609020204030204" pitchFamily="49" charset="0"/>
                  </a:rPr>
                  <a:t>.</a:t>
                </a:r>
              </a:p>
            </p:txBody>
          </p:sp>
        </mc:Choice>
        <mc:Fallback xmlns="">
          <p:sp>
            <p:nvSpPr>
              <p:cNvPr id="5" name="CuadroTexto 4">
                <a:extLst>
                  <a:ext uri="{FF2B5EF4-FFF2-40B4-BE49-F238E27FC236}">
                    <a16:creationId xmlns:a16="http://schemas.microsoft.com/office/drawing/2014/main" id="{B190EA92-986F-7DD1-A99D-4C356EDFCFB6}"/>
                  </a:ext>
                </a:extLst>
              </p:cNvPr>
              <p:cNvSpPr txBox="1">
                <a:spLocks noRot="1" noChangeAspect="1" noMove="1" noResize="1" noEditPoints="1" noAdjustHandles="1" noChangeArrowheads="1" noChangeShapeType="1" noTextEdit="1"/>
              </p:cNvSpPr>
              <p:nvPr/>
            </p:nvSpPr>
            <p:spPr>
              <a:xfrm>
                <a:off x="4792339" y="3621241"/>
                <a:ext cx="7111483" cy="923330"/>
              </a:xfrm>
              <a:prstGeom prst="rect">
                <a:avLst/>
              </a:prstGeom>
              <a:blipFill>
                <a:blip r:embed="rId3"/>
                <a:stretch>
                  <a:fillRect l="-686" t="-3289" b="-9211"/>
                </a:stretch>
              </a:blipFill>
            </p:spPr>
            <p:txBody>
              <a:bodyPr/>
              <a:lstStyle/>
              <a:p>
                <a:r>
                  <a:rPr lang="es-AR">
                    <a:noFill/>
                  </a:rPr>
                  <a:t> </a:t>
                </a:r>
              </a:p>
            </p:txBody>
          </p:sp>
        </mc:Fallback>
      </mc:AlternateContent>
      <p:sp>
        <p:nvSpPr>
          <p:cNvPr id="7" name="Marcador de contenido 2">
            <a:extLst>
              <a:ext uri="{FF2B5EF4-FFF2-40B4-BE49-F238E27FC236}">
                <a16:creationId xmlns:a16="http://schemas.microsoft.com/office/drawing/2014/main" id="{7B5E8B76-10F9-33B6-861C-4DAB3CE17B1B}"/>
              </a:ext>
            </a:extLst>
          </p:cNvPr>
          <p:cNvSpPr txBox="1">
            <a:spLocks/>
          </p:cNvSpPr>
          <p:nvPr/>
        </p:nvSpPr>
        <p:spPr>
          <a:xfrm>
            <a:off x="4926638" y="2321790"/>
            <a:ext cx="6993013" cy="156949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1600" dirty="0">
                <a:latin typeface="Consolas" panose="020B0609020204030204" pitchFamily="49" charset="0"/>
              </a:rPr>
              <a:t>Según la matemática:</a:t>
            </a:r>
          </a:p>
          <a:p>
            <a:pPr algn="l"/>
            <a:r>
              <a:rPr lang="es-ES" sz="3600" dirty="0">
                <a:latin typeface="Consolas" panose="020B0609020204030204" pitchFamily="49" charset="0"/>
              </a:rPr>
              <a:t>X → Y e Y → Z =&gt; X → Z</a:t>
            </a:r>
          </a:p>
          <a:p>
            <a:pPr algn="l"/>
            <a:r>
              <a:rPr lang="es-ES" sz="1800" dirty="0">
                <a:latin typeface="Consolas" panose="020B0609020204030204" pitchFamily="49" charset="0"/>
              </a:rPr>
              <a:t>Es lo mismo que decir: </a:t>
            </a:r>
            <a:r>
              <a:rPr lang="es-ES" dirty="0">
                <a:latin typeface="Consolas" panose="020B0609020204030204" pitchFamily="49" charset="0"/>
              </a:rPr>
              <a:t>X → Y → Z =&gt; X → Z</a:t>
            </a:r>
          </a:p>
          <a:p>
            <a:pPr algn="l"/>
            <a:endParaRPr lang="es-ES" sz="3600" dirty="0">
              <a:latin typeface="Consolas" panose="020B0609020204030204" pitchFamily="49" charset="0"/>
            </a:endParaRPr>
          </a:p>
        </p:txBody>
      </p:sp>
    </p:spTree>
    <p:extLst>
      <p:ext uri="{BB962C8B-B14F-4D97-AF65-F5344CB8AC3E}">
        <p14:creationId xmlns:p14="http://schemas.microsoft.com/office/powerpoint/2010/main" val="222704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2B6AE3-5222-C65B-E716-FD4C62B8E98B}"/>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DD1A12AB-5CA8-7CD8-39E8-BB4B25AAD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0"/>
            <a:ext cx="4654286"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ítulo 5">
            <a:extLst>
              <a:ext uri="{FF2B5EF4-FFF2-40B4-BE49-F238E27FC236}">
                <a16:creationId xmlns:a16="http://schemas.microsoft.com/office/drawing/2014/main" id="{647E1020-EDD5-6131-0329-03C5A615A4D9}"/>
              </a:ext>
            </a:extLst>
          </p:cNvPr>
          <p:cNvSpPr>
            <a:spLocks noGrp="1"/>
          </p:cNvSpPr>
          <p:nvPr>
            <p:ph type="ctrTitle"/>
          </p:nvPr>
        </p:nvSpPr>
        <p:spPr>
          <a:xfrm>
            <a:off x="150125" y="637762"/>
            <a:ext cx="4364367" cy="5576770"/>
          </a:xfrm>
        </p:spPr>
        <p:txBody>
          <a:bodyPr vert="horz" lIns="91440" tIns="45720" rIns="91440" bIns="45720" rtlCol="0" anchor="ctr">
            <a:normAutofit/>
          </a:bodyPr>
          <a:lstStyle/>
          <a:p>
            <a:r>
              <a:rPr lang="es-ES" sz="4400" dirty="0">
                <a:solidFill>
                  <a:schemeClr val="bg1"/>
                </a:solidFill>
                <a:latin typeface="Consolas" panose="020B0609020204030204" pitchFamily="49" charset="0"/>
              </a:rPr>
              <a:t>Determinantes y </a:t>
            </a:r>
            <a:r>
              <a:rPr lang="es-ES" sz="4400" dirty="0" err="1">
                <a:solidFill>
                  <a:schemeClr val="bg1"/>
                </a:solidFill>
                <a:latin typeface="Consolas" panose="020B0609020204030204" pitchFamily="49" charset="0"/>
              </a:rPr>
              <a:t>Superclaves</a:t>
            </a:r>
            <a:endParaRPr lang="en-US" sz="4400" kern="1200" dirty="0">
              <a:solidFill>
                <a:schemeClr val="bg1"/>
              </a:solidFill>
              <a:latin typeface="Consolas" panose="020B0609020204030204" pitchFamily="49" charset="0"/>
            </a:endParaRPr>
          </a:p>
        </p:txBody>
      </p:sp>
      <p:sp>
        <p:nvSpPr>
          <p:cNvPr id="23" name="Rectangle 22">
            <a:extLst>
              <a:ext uri="{FF2B5EF4-FFF2-40B4-BE49-F238E27FC236}">
                <a16:creationId xmlns:a16="http://schemas.microsoft.com/office/drawing/2014/main" id="{8297DF98-A8A4-CE4A-9FDB-8BDB9A4E80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2535" y="0"/>
            <a:ext cx="7539455"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E894659-BD1E-6892-D5C2-AFE42862A766}"/>
              </a:ext>
            </a:extLst>
          </p:cNvPr>
          <p:cNvSpPr txBox="1">
            <a:spLocks/>
          </p:cNvSpPr>
          <p:nvPr/>
        </p:nvSpPr>
        <p:spPr>
          <a:xfrm>
            <a:off x="4792339" y="278588"/>
            <a:ext cx="6993013" cy="1661064"/>
          </a:xfrm>
          <a:prstGeom prst="rect">
            <a:avLst/>
          </a:prstGeom>
        </p:spPr>
        <p:txBody>
          <a:bodyPr vert="horz" lIns="91440" tIns="45720" rIns="91440" bIns="45720" rtlCol="0" anchor="ct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AR" sz="2100" dirty="0">
                <a:latin typeface="Consolas" panose="020B0609020204030204" pitchFamily="49" charset="0"/>
              </a:rPr>
              <a:t>Definición:</a:t>
            </a:r>
          </a:p>
          <a:p>
            <a:pPr algn="l"/>
            <a:r>
              <a:rPr lang="es-ES" sz="3400" i="1" dirty="0">
                <a:latin typeface="Consolas" panose="020B0609020204030204" pitchFamily="49" charset="0"/>
              </a:rPr>
              <a:t>Una relación está en BCNF si todo determinante es una </a:t>
            </a:r>
            <a:r>
              <a:rPr lang="es-ES" sz="3400" i="1" dirty="0" err="1">
                <a:latin typeface="Consolas" panose="020B0609020204030204" pitchFamily="49" charset="0"/>
              </a:rPr>
              <a:t>superclave</a:t>
            </a:r>
            <a:r>
              <a:rPr lang="es-ES" sz="3400" i="1" dirty="0">
                <a:latin typeface="Consolas" panose="020B0609020204030204" pitchFamily="49" charset="0"/>
              </a:rPr>
              <a:t>.</a:t>
            </a:r>
            <a:endParaRPr lang="es-ES" sz="3400" b="1" i="1" dirty="0">
              <a:latin typeface="Consolas" panose="020B0609020204030204" pitchFamily="49" charset="0"/>
            </a:endParaRP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672AD64A-B6A3-E05B-AEA8-912BF6000A29}"/>
                  </a:ext>
                </a:extLst>
              </p:cNvPr>
              <p:cNvSpPr txBox="1"/>
              <p:nvPr/>
            </p:nvSpPr>
            <p:spPr>
              <a:xfrm>
                <a:off x="4792339" y="3621241"/>
                <a:ext cx="7111483" cy="923330"/>
              </a:xfrm>
              <a:prstGeom prst="rect">
                <a:avLst/>
              </a:prstGeom>
              <a:noFill/>
            </p:spPr>
            <p:txBody>
              <a:bodyPr wrap="square">
                <a:spAutoFit/>
              </a:bodyPr>
              <a:lstStyle/>
              <a:p>
                <a:pPr algn="l"/>
                <a:r>
                  <a:rPr lang="es-AR" b="0" i="0" dirty="0">
                    <a:solidFill>
                      <a:schemeClr val="tx1">
                        <a:lumMod val="95000"/>
                        <a:lumOff val="5000"/>
                      </a:schemeClr>
                    </a:solidFill>
                    <a:effectLst/>
                    <a:latin typeface="Consolas" panose="020B0609020204030204" pitchFamily="49" charset="0"/>
                  </a:rPr>
                  <a:t>Si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𝑋</m:t>
                    </m:r>
                  </m:oMath>
                </a14:m>
                <a:r>
                  <a:rPr lang="es-AR" b="0" i="0" dirty="0">
                    <a:solidFill>
                      <a:schemeClr val="tx1">
                        <a:lumMod val="95000"/>
                        <a:lumOff val="5000"/>
                      </a:schemeClr>
                    </a:solidFill>
                    <a:effectLst/>
                    <a:latin typeface="Consolas" panose="020B0609020204030204" pitchFamily="49" charset="0"/>
                  </a:rPr>
                  <a:t> es la Clave Primaria, e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𝑌</m:t>
                    </m:r>
                  </m:oMath>
                </a14:m>
                <a:r>
                  <a:rPr lang="es-AR" b="0" i="0" dirty="0">
                    <a:solidFill>
                      <a:schemeClr val="tx1">
                        <a:lumMod val="95000"/>
                        <a:lumOff val="5000"/>
                      </a:schemeClr>
                    </a:solidFill>
                    <a:effectLst/>
                    <a:latin typeface="Consolas" panose="020B0609020204030204" pitchFamily="49" charset="0"/>
                  </a:rPr>
                  <a:t> y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𝑍</m:t>
                    </m:r>
                  </m:oMath>
                </a14:m>
                <a:r>
                  <a:rPr lang="es-AR" b="0" i="0" dirty="0">
                    <a:solidFill>
                      <a:schemeClr val="tx1">
                        <a:lumMod val="95000"/>
                        <a:lumOff val="5000"/>
                      </a:schemeClr>
                    </a:solidFill>
                    <a:effectLst/>
                    <a:latin typeface="Consolas" panose="020B0609020204030204" pitchFamily="49" charset="0"/>
                  </a:rPr>
                  <a:t> son atributos comunes, entonces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𝑍</m:t>
                    </m:r>
                  </m:oMath>
                </a14:m>
                <a:r>
                  <a:rPr lang="es-AR" b="0" i="0" dirty="0">
                    <a:solidFill>
                      <a:schemeClr val="tx1">
                        <a:lumMod val="95000"/>
                        <a:lumOff val="5000"/>
                      </a:schemeClr>
                    </a:solidFill>
                    <a:effectLst/>
                    <a:latin typeface="Consolas" panose="020B0609020204030204" pitchFamily="49" charset="0"/>
                  </a:rPr>
                  <a:t> depende de la clave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𝑋</m:t>
                    </m:r>
                  </m:oMath>
                </a14:m>
                <a:r>
                  <a:rPr lang="es-AR" b="0" i="0" dirty="0">
                    <a:solidFill>
                      <a:schemeClr val="tx1">
                        <a:lumMod val="95000"/>
                        <a:lumOff val="5000"/>
                      </a:schemeClr>
                    </a:solidFill>
                    <a:effectLst/>
                    <a:latin typeface="Consolas" panose="020B0609020204030204" pitchFamily="49" charset="0"/>
                  </a:rPr>
                  <a:t> </a:t>
                </a:r>
                <a:r>
                  <a:rPr lang="es-AR" b="0" i="1" dirty="0">
                    <a:solidFill>
                      <a:schemeClr val="tx1">
                        <a:lumMod val="95000"/>
                        <a:lumOff val="5000"/>
                      </a:schemeClr>
                    </a:solidFill>
                    <a:effectLst/>
                    <a:latin typeface="Consolas" panose="020B0609020204030204" pitchFamily="49" charset="0"/>
                  </a:rPr>
                  <a:t>a través</a:t>
                </a:r>
                <a:r>
                  <a:rPr lang="es-AR" b="0" i="0" dirty="0">
                    <a:solidFill>
                      <a:schemeClr val="tx1">
                        <a:lumMod val="95000"/>
                        <a:lumOff val="5000"/>
                      </a:schemeClr>
                    </a:solidFill>
                    <a:effectLst/>
                    <a:latin typeface="Consolas" panose="020B0609020204030204" pitchFamily="49" charset="0"/>
                  </a:rPr>
                  <a:t> de </a:t>
                </a:r>
                <a14:m>
                  <m:oMath xmlns:m="http://schemas.openxmlformats.org/officeDocument/2006/math">
                    <m:r>
                      <a:rPr lang="es-AR" b="0" i="1" smtClean="0">
                        <a:solidFill>
                          <a:schemeClr val="tx1">
                            <a:lumMod val="95000"/>
                            <a:lumOff val="5000"/>
                          </a:schemeClr>
                        </a:solidFill>
                        <a:effectLst/>
                        <a:latin typeface="Cambria Math" panose="02040503050406030204" pitchFamily="18" charset="0"/>
                      </a:rPr>
                      <m:t>𝑌</m:t>
                    </m:r>
                  </m:oMath>
                </a14:m>
                <a:r>
                  <a:rPr lang="es-AR" b="0" i="0" dirty="0">
                    <a:solidFill>
                      <a:schemeClr val="tx1">
                        <a:lumMod val="95000"/>
                        <a:lumOff val="5000"/>
                      </a:schemeClr>
                    </a:solidFill>
                    <a:effectLst/>
                    <a:latin typeface="Consolas" panose="020B0609020204030204" pitchFamily="49" charset="0"/>
                  </a:rPr>
                  <a:t>.</a:t>
                </a:r>
              </a:p>
            </p:txBody>
          </p:sp>
        </mc:Choice>
        <mc:Fallback>
          <p:sp>
            <p:nvSpPr>
              <p:cNvPr id="5" name="CuadroTexto 4">
                <a:extLst>
                  <a:ext uri="{FF2B5EF4-FFF2-40B4-BE49-F238E27FC236}">
                    <a16:creationId xmlns:a16="http://schemas.microsoft.com/office/drawing/2014/main" id="{672AD64A-B6A3-E05B-AEA8-912BF6000A29}"/>
                  </a:ext>
                </a:extLst>
              </p:cNvPr>
              <p:cNvSpPr txBox="1">
                <a:spLocks noRot="1" noChangeAspect="1" noMove="1" noResize="1" noEditPoints="1" noAdjustHandles="1" noChangeArrowheads="1" noChangeShapeType="1" noTextEdit="1"/>
              </p:cNvSpPr>
              <p:nvPr/>
            </p:nvSpPr>
            <p:spPr>
              <a:xfrm>
                <a:off x="4792339" y="3621241"/>
                <a:ext cx="7111483" cy="923330"/>
              </a:xfrm>
              <a:prstGeom prst="rect">
                <a:avLst/>
              </a:prstGeom>
              <a:blipFill>
                <a:blip r:embed="rId3"/>
                <a:stretch>
                  <a:fillRect l="-686" t="-3289" b="-9211"/>
                </a:stretch>
              </a:blipFill>
            </p:spPr>
            <p:txBody>
              <a:bodyPr/>
              <a:lstStyle/>
              <a:p>
                <a:r>
                  <a:rPr lang="es-AR">
                    <a:noFill/>
                  </a:rPr>
                  <a:t> </a:t>
                </a:r>
              </a:p>
            </p:txBody>
          </p:sp>
        </mc:Fallback>
      </mc:AlternateContent>
      <p:sp>
        <p:nvSpPr>
          <p:cNvPr id="7" name="Marcador de contenido 2">
            <a:extLst>
              <a:ext uri="{FF2B5EF4-FFF2-40B4-BE49-F238E27FC236}">
                <a16:creationId xmlns:a16="http://schemas.microsoft.com/office/drawing/2014/main" id="{05B5BC69-4932-9B66-C4EA-9F4A9E12414E}"/>
              </a:ext>
            </a:extLst>
          </p:cNvPr>
          <p:cNvSpPr txBox="1">
            <a:spLocks/>
          </p:cNvSpPr>
          <p:nvPr/>
        </p:nvSpPr>
        <p:spPr>
          <a:xfrm>
            <a:off x="4792338" y="2227497"/>
            <a:ext cx="6993013" cy="119865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ES" sz="1600" dirty="0">
                <a:latin typeface="Consolas" panose="020B0609020204030204" pitchFamily="49" charset="0"/>
              </a:rPr>
              <a:t>Según la matemática:</a:t>
            </a:r>
          </a:p>
          <a:p>
            <a:r>
              <a:rPr lang="es-AR" sz="3600" dirty="0">
                <a:latin typeface="Consolas" panose="020B0609020204030204" pitchFamily="49" charset="0"/>
              </a:rPr>
              <a:t>∀</a:t>
            </a:r>
            <a:r>
              <a:rPr lang="es-ES" sz="3600" dirty="0">
                <a:latin typeface="Consolas" panose="020B0609020204030204" pitchFamily="49" charset="0"/>
              </a:rPr>
              <a:t> X → Z =&gt; X es </a:t>
            </a:r>
            <a:r>
              <a:rPr lang="es-ES" sz="3600" dirty="0" err="1">
                <a:latin typeface="Consolas" panose="020B0609020204030204" pitchFamily="49" charset="0"/>
              </a:rPr>
              <a:t>superclave</a:t>
            </a:r>
            <a:endParaRPr lang="es-ES" sz="3600" dirty="0">
              <a:latin typeface="Consolas" panose="020B0609020204030204" pitchFamily="49" charset="0"/>
            </a:endParaRPr>
          </a:p>
        </p:txBody>
      </p:sp>
    </p:spTree>
    <p:extLst>
      <p:ext uri="{BB962C8B-B14F-4D97-AF65-F5344CB8AC3E}">
        <p14:creationId xmlns:p14="http://schemas.microsoft.com/office/powerpoint/2010/main" val="62943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Tema de Office">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819</TotalTime>
  <Words>1198</Words>
  <Application>Microsoft Office PowerPoint</Application>
  <PresentationFormat>Panorámica</PresentationFormat>
  <Paragraphs>112</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10</vt:i4>
      </vt:variant>
    </vt:vector>
  </HeadingPairs>
  <TitlesOfParts>
    <vt:vector size="17" baseType="lpstr">
      <vt:lpstr>Aptos</vt:lpstr>
      <vt:lpstr>Aptos Display</vt:lpstr>
      <vt:lpstr>Arial</vt:lpstr>
      <vt:lpstr>Cambria Math</vt:lpstr>
      <vt:lpstr>Consolas</vt:lpstr>
      <vt:lpstr>Tema de Office</vt:lpstr>
      <vt:lpstr>Diseño personalizado</vt:lpstr>
      <vt:lpstr>Normalización</vt:lpstr>
      <vt:lpstr>Dependencias Funcionales</vt:lpstr>
      <vt:lpstr>Dependencias Funcionales de Claves Candidatas Compuestas</vt:lpstr>
      <vt:lpstr>Dependencias Funcionales de Claves Candidatas Compuestas y 2da Forma Normal</vt:lpstr>
      <vt:lpstr>Dependencias Funcionales Triviales y No Triviales</vt:lpstr>
      <vt:lpstr>Dependencias Funcionales Triviales y No Triviales</vt:lpstr>
      <vt:lpstr>Dependencias Funcionales Completamente No Triviales</vt:lpstr>
      <vt:lpstr>Dependencias Funcionales Completamente No Triviales</vt:lpstr>
      <vt:lpstr>Dependencias Transitivas</vt:lpstr>
      <vt:lpstr>Determinantes y Superclaves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Diego Cass</dc:creator>
  <cp:lastModifiedBy>Diego Cass</cp:lastModifiedBy>
  <cp:revision>5</cp:revision>
  <dcterms:created xsi:type="dcterms:W3CDTF">2026-03-18T23:13:34Z</dcterms:created>
  <dcterms:modified xsi:type="dcterms:W3CDTF">2026-06-22T11:20:06Z</dcterms:modified>
</cp:coreProperties>
</file>